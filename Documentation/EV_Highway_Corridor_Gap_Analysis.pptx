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0" r:id="rId6"/>
    <p:sldId id="269" r:id="rId7"/>
    <p:sldId id="262" r:id="rId8"/>
    <p:sldId id="263" r:id="rId9"/>
    <p:sldId id="264" r:id="rId10"/>
    <p:sldId id="265" r:id="rId11"/>
    <p:sldId id="272" r:id="rId12"/>
    <p:sldId id="273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CBB3EE-BAD3-4951-4ECE-DD53247C367D}">
          <p14:sldIdLst>
            <p14:sldId id="256"/>
            <p14:sldId id="257"/>
            <p14:sldId id="258"/>
            <p14:sldId id="271"/>
          </p14:sldIdLst>
        </p14:section>
        <p14:section name="Data and Method" id="{EE4B7472-21F8-4B0A-2CE7-1A77C3465B8E}">
          <p14:sldIdLst>
            <p14:sldId id="260"/>
            <p14:sldId id="269"/>
            <p14:sldId id="262"/>
            <p14:sldId id="263"/>
          </p14:sldIdLst>
        </p14:section>
        <p14:section name="Analysis" id="{B54EB238-9BE1-E003-C5E4-541C0EC550C0}">
          <p14:sldIdLst>
            <p14:sldId id="264"/>
            <p14:sldId id="265"/>
            <p14:sldId id="272"/>
            <p14:sldId id="273"/>
            <p14:sldId id="266"/>
          </p14:sldIdLst>
        </p14:section>
        <p14:section name="Conclusion" id="{89182660-54AA-347F-3CD1-BD2410914BA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7F3C3A-8827-4B69-ADC1-9EC05BFB4952}" v="3" dt="2026-10-13T00:56:28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0615191" userId="060ab973-0945-415d-948b-8472e63fac1b" providerId="ADAL" clId="{D9C046CB-086E-4F35-A302-665AF1FB3B35}"/>
    <pc:docChg chg="undo custSel addSld modSld modSection">
      <pc:chgData name="S0615191" userId="060ab973-0945-415d-948b-8472e63fac1b" providerId="ADAL" clId="{D9C046CB-086E-4F35-A302-665AF1FB3B35}" dt="2026-10-13T00:58:15.010" v="164" actId="1076"/>
      <pc:docMkLst>
        <pc:docMk/>
      </pc:docMkLst>
      <pc:sldChg chg="modSp">
        <pc:chgData name="S0615191" userId="060ab973-0945-415d-948b-8472e63fac1b" providerId="ADAL" clId="{D9C046CB-086E-4F35-A302-665AF1FB3B35}" dt="2026-10-11T13:22:51.733" v="8"/>
        <pc:sldMkLst>
          <pc:docMk/>
          <pc:sldMk cId="0" sldId="258"/>
        </pc:sldMkLst>
        <pc:spChg chg="mod">
          <ac:chgData name="S0615191" userId="060ab973-0945-415d-948b-8472e63fac1b" providerId="ADAL" clId="{D9C046CB-086E-4F35-A302-665AF1FB3B35}" dt="2026-10-11T13:22:51.733" v="8"/>
          <ac:spMkLst>
            <pc:docMk/>
            <pc:sldMk cId="0" sldId="258"/>
            <ac:spMk id="3" creationId="{00000000-0000-0000-0000-000000000000}"/>
          </ac:spMkLst>
        </pc:spChg>
        <pc:spChg chg="mod">
          <ac:chgData name="S0615191" userId="060ab973-0945-415d-948b-8472e63fac1b" providerId="ADAL" clId="{D9C046CB-086E-4F35-A302-665AF1FB3B35}" dt="2026-10-11T13:08:06.114" v="0"/>
          <ac:spMkLst>
            <pc:docMk/>
            <pc:sldMk cId="0" sldId="258"/>
            <ac:spMk id="5" creationId="{00000000-0000-0000-0000-000000000000}"/>
          </ac:spMkLst>
        </pc:spChg>
        <pc:spChg chg="mod">
          <ac:chgData name="S0615191" userId="060ab973-0945-415d-948b-8472e63fac1b" providerId="ADAL" clId="{D9C046CB-086E-4F35-A302-665AF1FB3B35}" dt="2026-10-11T13:14:20.358" v="2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S0615191" userId="060ab973-0945-415d-948b-8472e63fac1b" providerId="ADAL" clId="{D9C046CB-086E-4F35-A302-665AF1FB3B35}" dt="2026-10-12T13:27:09.880" v="36" actId="1036"/>
        <pc:sldMkLst>
          <pc:docMk/>
          <pc:sldMk cId="0" sldId="262"/>
        </pc:sldMkLst>
        <pc:spChg chg="mod">
          <ac:chgData name="S0615191" userId="060ab973-0945-415d-948b-8472e63fac1b" providerId="ADAL" clId="{D9C046CB-086E-4F35-A302-665AF1FB3B35}" dt="2026-10-12T13:27:09.880" v="36" actId="10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0615191" userId="060ab973-0945-415d-948b-8472e63fac1b" providerId="ADAL" clId="{D9C046CB-086E-4F35-A302-665AF1FB3B35}" dt="2026-10-11T14:04:04.153" v="17"/>
          <ac:spMkLst>
            <pc:docMk/>
            <pc:sldMk cId="0" sldId="262"/>
            <ac:spMk id="5" creationId="{00000000-0000-0000-0000-000000000000}"/>
          </ac:spMkLst>
        </pc:spChg>
        <pc:spChg chg="mod">
          <ac:chgData name="S0615191" userId="060ab973-0945-415d-948b-8472e63fac1b" providerId="ADAL" clId="{D9C046CB-086E-4F35-A302-665AF1FB3B35}" dt="2026-10-11T14:23:20.164" v="26"/>
          <ac:spMkLst>
            <pc:docMk/>
            <pc:sldMk cId="0" sldId="262"/>
            <ac:spMk id="7" creationId="{00000000-0000-0000-0000-000000000000}"/>
          </ac:spMkLst>
        </pc:spChg>
        <pc:picChg chg="mod">
          <ac:chgData name="S0615191" userId="060ab973-0945-415d-948b-8472e63fac1b" providerId="ADAL" clId="{D9C046CB-086E-4F35-A302-665AF1FB3B35}" dt="2026-10-12T13:27:05.399" v="35" actId="14100"/>
          <ac:picMkLst>
            <pc:docMk/>
            <pc:sldMk cId="0" sldId="262"/>
            <ac:picMk id="27" creationId="{17514E59-BD51-5041-376A-9A80DF7791B7}"/>
          </ac:picMkLst>
        </pc:picChg>
      </pc:sldChg>
      <pc:sldChg chg="modSp">
        <pc:chgData name="S0615191" userId="060ab973-0945-415d-948b-8472e63fac1b" providerId="ADAL" clId="{D9C046CB-086E-4F35-A302-665AF1FB3B35}" dt="2026-10-11T14:26:37.394" v="27"/>
        <pc:sldMkLst>
          <pc:docMk/>
          <pc:sldMk cId="0" sldId="263"/>
        </pc:sldMkLst>
        <pc:spChg chg="mod">
          <ac:chgData name="S0615191" userId="060ab973-0945-415d-948b-8472e63fac1b" providerId="ADAL" clId="{D9C046CB-086E-4F35-A302-665AF1FB3B35}" dt="2026-10-11T14:26:37.394" v="27"/>
          <ac:spMkLst>
            <pc:docMk/>
            <pc:sldMk cId="0" sldId="263"/>
            <ac:spMk id="19" creationId="{00000000-0000-0000-0000-000000000000}"/>
          </ac:spMkLst>
        </pc:spChg>
      </pc:sldChg>
      <pc:sldChg chg="delSp modSp">
        <pc:chgData name="S0615191" userId="060ab973-0945-415d-948b-8472e63fac1b" providerId="ADAL" clId="{D9C046CB-086E-4F35-A302-665AF1FB3B35}" dt="2026-10-11T15:04:10.526" v="33"/>
        <pc:sldMkLst>
          <pc:docMk/>
          <pc:sldMk cId="0" sldId="264"/>
        </pc:sldMkLst>
        <pc:spChg chg="mod">
          <ac:chgData name="S0615191" userId="060ab973-0945-415d-948b-8472e63fac1b" providerId="ADAL" clId="{D9C046CB-086E-4F35-A302-665AF1FB3B35}" dt="2026-10-11T14:30:55.104" v="28"/>
          <ac:spMkLst>
            <pc:docMk/>
            <pc:sldMk cId="0" sldId="264"/>
            <ac:spMk id="9" creationId="{00000000-0000-0000-0000-000000000000}"/>
          </ac:spMkLst>
        </pc:spChg>
        <pc:spChg chg="mod">
          <ac:chgData name="S0615191" userId="060ab973-0945-415d-948b-8472e63fac1b" providerId="ADAL" clId="{D9C046CB-086E-4F35-A302-665AF1FB3B35}" dt="2026-10-11T14:33:23.646" v="3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0615191" userId="060ab973-0945-415d-948b-8472e63fac1b" providerId="ADAL" clId="{D9C046CB-086E-4F35-A302-665AF1FB3B35}" dt="2026-10-11T15:03:58.716" v="32"/>
          <ac:spMkLst>
            <pc:docMk/>
            <pc:sldMk cId="0" sldId="264"/>
            <ac:spMk id="15" creationId="{00000000-0000-0000-0000-000000000000}"/>
          </ac:spMkLst>
        </pc:spChg>
      </pc:sldChg>
      <pc:sldChg chg="addSp delSp modSp mod">
        <pc:chgData name="S0615191" userId="060ab973-0945-415d-948b-8472e63fac1b" providerId="ADAL" clId="{D9C046CB-086E-4F35-A302-665AF1FB3B35}" dt="2026-10-13T00:52:49.733" v="133" actId="1076"/>
        <pc:sldMkLst>
          <pc:docMk/>
          <pc:sldMk cId="0" sldId="265"/>
        </pc:sldMkLst>
        <pc:spChg chg="del">
          <ac:chgData name="S0615191" userId="060ab973-0945-415d-948b-8472e63fac1b" providerId="ADAL" clId="{D9C046CB-086E-4F35-A302-665AF1FB3B35}" dt="2026-10-13T00:50:52.702" v="103" actId="478"/>
          <ac:spMkLst>
            <pc:docMk/>
            <pc:sldMk cId="0" sldId="265"/>
            <ac:spMk id="4" creationId="{00000000-0000-0000-0000-000000000000}"/>
          </ac:spMkLst>
        </pc:spChg>
        <pc:spChg chg="add del">
          <ac:chgData name="S0615191" userId="060ab973-0945-415d-948b-8472e63fac1b" providerId="ADAL" clId="{D9C046CB-086E-4F35-A302-665AF1FB3B35}" dt="2026-10-13T00:50:56.821" v="106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S0615191" userId="060ab973-0945-415d-948b-8472e63fac1b" providerId="ADAL" clId="{D9C046CB-086E-4F35-A302-665AF1FB3B35}" dt="2026-10-13T00:51:00.388" v="107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S0615191" userId="060ab973-0945-415d-948b-8472e63fac1b" providerId="ADAL" clId="{D9C046CB-086E-4F35-A302-665AF1FB3B35}" dt="2026-10-13T00:50:49.194" v="101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S0615191" userId="060ab973-0945-415d-948b-8472e63fac1b" providerId="ADAL" clId="{D9C046CB-086E-4F35-A302-665AF1FB3B35}" dt="2026-10-13T00:51:49.869" v="111" actId="478"/>
          <ac:spMkLst>
            <pc:docMk/>
            <pc:sldMk cId="0" sldId="265"/>
            <ac:spMk id="16" creationId="{00000000-0000-0000-0000-000000000000}"/>
          </ac:spMkLst>
        </pc:spChg>
        <pc:spChg chg="add del">
          <ac:chgData name="S0615191" userId="060ab973-0945-415d-948b-8472e63fac1b" providerId="ADAL" clId="{D9C046CB-086E-4F35-A302-665AF1FB3B35}" dt="2026-10-13T00:48:57.143" v="79" actId="22"/>
          <ac:spMkLst>
            <pc:docMk/>
            <pc:sldMk cId="0" sldId="265"/>
            <ac:spMk id="20" creationId="{75BB487F-66FF-14BE-4F5F-1757CC71B4F3}"/>
          </ac:spMkLst>
        </pc:spChg>
        <pc:picChg chg="add mod">
          <ac:chgData name="S0615191" userId="060ab973-0945-415d-948b-8472e63fac1b" providerId="ADAL" clId="{D9C046CB-086E-4F35-A302-665AF1FB3B35}" dt="2026-10-13T00:52:49.733" v="133" actId="1076"/>
          <ac:picMkLst>
            <pc:docMk/>
            <pc:sldMk cId="0" sldId="265"/>
            <ac:picMk id="22" creationId="{05164A80-DD3F-4D7E-B5E7-A528F12399A7}"/>
          </ac:picMkLst>
        </pc:picChg>
        <pc:picChg chg="add mod modCrop">
          <ac:chgData name="S0615191" userId="060ab973-0945-415d-948b-8472e63fac1b" providerId="ADAL" clId="{D9C046CB-086E-4F35-A302-665AF1FB3B35}" dt="2026-10-13T00:51:03.778" v="108" actId="1076"/>
          <ac:picMkLst>
            <pc:docMk/>
            <pc:sldMk cId="0" sldId="265"/>
            <ac:picMk id="24" creationId="{6FB62C3B-AE03-AAFC-AB65-D1113D3E117E}"/>
          </ac:picMkLst>
        </pc:picChg>
        <pc:picChg chg="add mod">
          <ac:chgData name="S0615191" userId="060ab973-0945-415d-948b-8472e63fac1b" providerId="ADAL" clId="{D9C046CB-086E-4F35-A302-665AF1FB3B35}" dt="2026-10-13T00:52:17.490" v="122" actId="14100"/>
          <ac:picMkLst>
            <pc:docMk/>
            <pc:sldMk cId="0" sldId="265"/>
            <ac:picMk id="27" creationId="{CF1D8E41-71EB-0185-57C1-DB7E0ED2609D}"/>
          </ac:picMkLst>
        </pc:picChg>
        <pc:picChg chg="add mod">
          <ac:chgData name="S0615191" userId="060ab973-0945-415d-948b-8472e63fac1b" providerId="ADAL" clId="{D9C046CB-086E-4F35-A302-665AF1FB3B35}" dt="2026-10-13T00:52:45.340" v="132" actId="14100"/>
          <ac:picMkLst>
            <pc:docMk/>
            <pc:sldMk cId="0" sldId="265"/>
            <ac:picMk id="29" creationId="{CA8E79A6-3CA8-7143-6A49-417886207132}"/>
          </ac:picMkLst>
        </pc:picChg>
      </pc:sldChg>
      <pc:sldChg chg="addSp delSp modSp mod">
        <pc:chgData name="S0615191" userId="060ab973-0945-415d-948b-8472e63fac1b" providerId="ADAL" clId="{D9C046CB-086E-4F35-A302-665AF1FB3B35}" dt="2026-10-13T00:57:18.399" v="152" actId="1076"/>
        <pc:sldMkLst>
          <pc:docMk/>
          <pc:sldMk cId="0" sldId="266"/>
        </pc:sldMkLst>
        <pc:picChg chg="add mod">
          <ac:chgData name="S0615191" userId="060ab973-0945-415d-948b-8472e63fac1b" providerId="ADAL" clId="{D9C046CB-086E-4F35-A302-665AF1FB3B35}" dt="2026-10-13T00:57:18.399" v="152" actId="1076"/>
          <ac:picMkLst>
            <pc:docMk/>
            <pc:sldMk cId="0" sldId="266"/>
            <ac:picMk id="4" creationId="{11075D9A-B2BD-F038-CA83-2C75E13CBFDB}"/>
          </ac:picMkLst>
        </pc:picChg>
        <pc:picChg chg="del">
          <ac:chgData name="S0615191" userId="060ab973-0945-415d-948b-8472e63fac1b" providerId="ADAL" clId="{D9C046CB-086E-4F35-A302-665AF1FB3B35}" dt="2026-10-13T00:57:04.478" v="145" actId="478"/>
          <ac:picMkLst>
            <pc:docMk/>
            <pc:sldMk cId="0" sldId="266"/>
            <ac:picMk id="32" creationId="{61D1CA64-14E1-F767-BBDD-0EA23A8F5F10}"/>
          </ac:picMkLst>
        </pc:picChg>
      </pc:sldChg>
      <pc:sldChg chg="modSp">
        <pc:chgData name="S0615191" userId="060ab973-0945-415d-948b-8472e63fac1b" providerId="ADAL" clId="{D9C046CB-086E-4F35-A302-665AF1FB3B35}" dt="2026-10-11T14:38:33.667" v="31"/>
        <pc:sldMkLst>
          <pc:docMk/>
          <pc:sldMk cId="0" sldId="267"/>
        </pc:sldMkLst>
        <pc:spChg chg="mod">
          <ac:chgData name="S0615191" userId="060ab973-0945-415d-948b-8472e63fac1b" providerId="ADAL" clId="{D9C046CB-086E-4F35-A302-665AF1FB3B35}" dt="2026-10-11T14:38:33.667" v="31"/>
          <ac:spMkLst>
            <pc:docMk/>
            <pc:sldMk cId="0" sldId="267"/>
            <ac:spMk id="14" creationId="{00000000-0000-0000-0000-000000000000}"/>
          </ac:spMkLst>
        </pc:spChg>
      </pc:sldChg>
      <pc:sldChg chg="addSp delSp modSp add mod">
        <pc:chgData name="S0615191" userId="060ab973-0945-415d-948b-8472e63fac1b" providerId="ADAL" clId="{D9C046CB-086E-4F35-A302-665AF1FB3B35}" dt="2026-10-13T00:58:15.010" v="164" actId="1076"/>
        <pc:sldMkLst>
          <pc:docMk/>
          <pc:sldMk cId="789687094" sldId="272"/>
        </pc:sldMkLst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4" creationId="{180CC9C0-90E9-8918-5B2E-691278EA96E1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5" creationId="{FFA7B4FB-B05E-50D1-3E65-B3411BF44FDA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6" creationId="{348CABA4-54D5-B071-3AA5-B6E065B553AE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7" creationId="{B2B077C9-C336-C91F-8A04-FCC9E0F6F559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9" creationId="{59F277C7-AC64-04CF-F21D-7BD7F682BDE1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11" creationId="{97BC031D-DB88-B7E3-D160-4C500BB0598B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12" creationId="{3831A86D-84C9-B5E7-A05E-3DF787C4DD88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14" creationId="{DB12FE49-3C54-4DC6-9572-B0C5573CC8A4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15" creationId="{9393C25A-4BEA-D5DD-529E-F875D1F32DDF}"/>
          </ac:spMkLst>
        </pc:spChg>
        <pc:spChg chg="del">
          <ac:chgData name="S0615191" userId="060ab973-0945-415d-948b-8472e63fac1b" providerId="ADAL" clId="{D9C046CB-086E-4F35-A302-665AF1FB3B35}" dt="2026-10-12T14:34:50.986" v="38" actId="478"/>
          <ac:spMkLst>
            <pc:docMk/>
            <pc:sldMk cId="789687094" sldId="272"/>
            <ac:spMk id="18" creationId="{9FCA6DEF-6002-7C77-E5D1-7EB333AAF265}"/>
          </ac:spMkLst>
        </pc:spChg>
        <pc:spChg chg="mod">
          <ac:chgData name="S0615191" userId="060ab973-0945-415d-948b-8472e63fac1b" providerId="ADAL" clId="{D9C046CB-086E-4F35-A302-665AF1FB3B35}" dt="2026-10-12T14:38:59.166" v="52" actId="1076"/>
          <ac:spMkLst>
            <pc:docMk/>
            <pc:sldMk cId="789687094" sldId="272"/>
            <ac:spMk id="20" creationId="{611FE7B2-BDAC-E47B-A4AB-96FFD66B7DF6}"/>
          </ac:spMkLst>
        </pc:spChg>
        <pc:spChg chg="add mod">
          <ac:chgData name="S0615191" userId="060ab973-0945-415d-948b-8472e63fac1b" providerId="ADAL" clId="{D9C046CB-086E-4F35-A302-665AF1FB3B35}" dt="2026-10-13T00:58:07.747" v="161" actId="1076"/>
          <ac:spMkLst>
            <pc:docMk/>
            <pc:sldMk cId="789687094" sldId="272"/>
            <ac:spMk id="27" creationId="{9B05C032-93BE-3246-D12C-DA575C7BC90D}"/>
          </ac:spMkLst>
        </pc:spChg>
        <pc:spChg chg="add mod">
          <ac:chgData name="S0615191" userId="060ab973-0945-415d-948b-8472e63fac1b" providerId="ADAL" clId="{D9C046CB-086E-4F35-A302-665AF1FB3B35}" dt="2026-10-13T00:58:10.899" v="162" actId="1076"/>
          <ac:spMkLst>
            <pc:docMk/>
            <pc:sldMk cId="789687094" sldId="272"/>
            <ac:spMk id="29" creationId="{7EADE253-956B-F40D-D517-72E9CADFC03C}"/>
          </ac:spMkLst>
        </pc:spChg>
        <pc:picChg chg="add mod">
          <ac:chgData name="S0615191" userId="060ab973-0945-415d-948b-8472e63fac1b" providerId="ADAL" clId="{D9C046CB-086E-4F35-A302-665AF1FB3B35}" dt="2026-10-13T00:58:15.010" v="164" actId="1076"/>
          <ac:picMkLst>
            <pc:docMk/>
            <pc:sldMk cId="789687094" sldId="272"/>
            <ac:picMk id="22" creationId="{05EC734F-353C-CA23-F1C5-BBA96D590B79}"/>
          </ac:picMkLst>
        </pc:picChg>
        <pc:picChg chg="add mod">
          <ac:chgData name="S0615191" userId="060ab973-0945-415d-948b-8472e63fac1b" providerId="ADAL" clId="{D9C046CB-086E-4F35-A302-665AF1FB3B35}" dt="2026-10-13T00:58:12.807" v="163" actId="1076"/>
          <ac:picMkLst>
            <pc:docMk/>
            <pc:sldMk cId="789687094" sldId="272"/>
            <ac:picMk id="24" creationId="{EF535062-9FEF-EEE8-3477-735D25584555}"/>
          </ac:picMkLst>
        </pc:picChg>
      </pc:sldChg>
      <pc:sldChg chg="addSp delSp modSp add mod">
        <pc:chgData name="S0615191" userId="060ab973-0945-415d-948b-8472e63fac1b" providerId="ADAL" clId="{D9C046CB-086E-4F35-A302-665AF1FB3B35}" dt="2026-10-13T00:57:55.852" v="160" actId="1076"/>
        <pc:sldMkLst>
          <pc:docMk/>
          <pc:sldMk cId="32455282" sldId="273"/>
        </pc:sldMkLst>
        <pc:spChg chg="mod">
          <ac:chgData name="S0615191" userId="060ab973-0945-415d-948b-8472e63fac1b" providerId="ADAL" clId="{D9C046CB-086E-4F35-A302-665AF1FB3B35}" dt="2026-10-13T00:57:48.114" v="157" actId="1076"/>
          <ac:spMkLst>
            <pc:docMk/>
            <pc:sldMk cId="32455282" sldId="273"/>
            <ac:spMk id="27" creationId="{DFAC4075-254F-E7F2-63B5-407305C8CE62}"/>
          </ac:spMkLst>
        </pc:spChg>
        <pc:spChg chg="mod">
          <ac:chgData name="S0615191" userId="060ab973-0945-415d-948b-8472e63fac1b" providerId="ADAL" clId="{D9C046CB-086E-4F35-A302-665AF1FB3B35}" dt="2026-10-13T00:57:51.333" v="158" actId="1076"/>
          <ac:spMkLst>
            <pc:docMk/>
            <pc:sldMk cId="32455282" sldId="273"/>
            <ac:spMk id="29" creationId="{7B4636DD-F4E5-0290-A1AB-7AEB4705D190}"/>
          </ac:spMkLst>
        </pc:spChg>
        <pc:picChg chg="add mod modCrop">
          <ac:chgData name="S0615191" userId="060ab973-0945-415d-948b-8472e63fac1b" providerId="ADAL" clId="{D9C046CB-086E-4F35-A302-665AF1FB3B35}" dt="2026-10-13T00:57:53.442" v="159" actId="1076"/>
          <ac:picMkLst>
            <pc:docMk/>
            <pc:sldMk cId="32455282" sldId="273"/>
            <ac:picMk id="3" creationId="{D5D452E7-30A3-8AE6-85E4-BDAB55BEC09A}"/>
          </ac:picMkLst>
        </pc:picChg>
        <pc:picChg chg="add mod">
          <ac:chgData name="S0615191" userId="060ab973-0945-415d-948b-8472e63fac1b" providerId="ADAL" clId="{D9C046CB-086E-4F35-A302-665AF1FB3B35}" dt="2026-10-13T00:57:55.852" v="160" actId="1076"/>
          <ac:picMkLst>
            <pc:docMk/>
            <pc:sldMk cId="32455282" sldId="273"/>
            <ac:picMk id="5" creationId="{985D482C-FC8B-2863-DC1A-7FDD962EFC8C}"/>
          </ac:picMkLst>
        </pc:picChg>
        <pc:picChg chg="del">
          <ac:chgData name="S0615191" userId="060ab973-0945-415d-948b-8472e63fac1b" providerId="ADAL" clId="{D9C046CB-086E-4F35-A302-665AF1FB3B35}" dt="2026-10-12T14:41:23.631" v="72" actId="478"/>
          <ac:picMkLst>
            <pc:docMk/>
            <pc:sldMk cId="32455282" sldId="273"/>
            <ac:picMk id="22" creationId="{F0EE05EC-92B2-2192-0E48-E30F5B47EDDB}"/>
          </ac:picMkLst>
        </pc:picChg>
        <pc:picChg chg="del">
          <ac:chgData name="S0615191" userId="060ab973-0945-415d-948b-8472e63fac1b" providerId="ADAL" clId="{D9C046CB-086E-4F35-A302-665AF1FB3B35}" dt="2026-10-12T14:40:54.203" v="64" actId="478"/>
          <ac:picMkLst>
            <pc:docMk/>
            <pc:sldMk cId="32455282" sldId="273"/>
            <ac:picMk id="24" creationId="{EECAD9E8-B0EA-AE80-F7C3-FEA58C1A88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3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it asks whether fast chargers along six national highways actually cover the routes, not just how many chargers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EV adoption is growing, highway charging decides whether long trips are practical, and data analysis lets planners measure gaps instead of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counting chargers is not enough. NH-66 has 243 nearby fast chargers but still has a 376 km uncovered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BB9C9-0FBC-5539-4DB1-D9DDFA8E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360BA-41D2-B6CF-1DEF-2AE9C3E8B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E0089-C2F1-FD65-59EE-A751F79E9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moving from demand (registrations) to supply (chargers) to corridor coverage, gaps, and finally comparison across indicators.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9B42-5490-E958-3EEF-781A6BEFF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09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pipeline: four datasets feed one Python workflow. Fast charger means 25 kW or above; a segment is uncovered when no fast charger lies within 50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05666-2217-0FB6-EFFC-DE153D4E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9B426-5D3B-D51B-BEC4-0A611E645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37C43-E265-7E8A-BAA1-B7E966255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dataset groups. Only documented counts are shown. Dimensions and dtypes should be read from the notebook outputs when presenting.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6BC90-1218-68A6-83A6-3676F9B49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77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each dataset was obtained and inspected. Replace the two placeholders with real notebook screenshots; do not quote counts that are not in the notebook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results: 1,979 raw charger records, 1,841 after cleaning, 1,822 operational, 1,421 fast. Highways: 10,317 to 9,507. Parameters are project assumptions,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 numbers. Note that 2026 registrations are partial. The index, sensitivity analysis and clusters are shown through the figures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project figures. If the PNG files are not in outputs/figures next to the deck, replace each placeholder with the real image. Fill the two 'confirm from the figure' insights from the notebook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0123-E899-A9F6-60DC-C01803DB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3991D-444D-8C21-C6F5-5C5BF0706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4E331-6AF1-CBD4-6744-D2C4623EB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project figures. If the PNG files are not in outputs/figures next to the deck, replace each placeholder with the real image. Fill the two 'confirm from the figure' insights from the notebook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A7898-FEF8-857B-83D8-A2271E97E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79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F4D8-752E-092F-2B9F-C2B10406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32AE36-DFA0-5547-8B90-00F3DF750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2983D-9EA9-2176-F940-95947430F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project figures. If the PNG files are not in outputs/figures next to the deck, replace each placeholder with the real image. Fill the two 'confirm from the figure' insights from the notebook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49BE4-2042-47E4-2EBB-E28BD5C53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84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findings only. Chart shows the three coverage values provided: NH-544 100%, NH-48 97.7%, NH-52 50.0%. The other highways come from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message: registrations show demand, geospatial analysis shows where supply is missing. State the limitations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191B5-4484-C54E-FDE3-85562940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AF627-D036-3EE2-F605-D0A721FF3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12094-2984-CC03-A699-82906315F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message: registrations show demand, geospatial analysis shows where supply is missing. State the limitations openly.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88650-C694-C428-5581-8D086683B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9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EV Highway Corridor Reliability Gap Analysis  |  Inbavathi Murugan  |  AF05309783  |  Anudip Foundation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EV Highway Corridor Reliability Gap Analysis  |  Inbavathi Murugan  |  AF05309783  |  Anudip Foundation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circle"/>
          <p:cNvSpPr/>
          <p:nvPr/>
        </p:nvSpPr>
        <p:spPr>
          <a:xfrm>
            <a:off x="7863840" y="914400"/>
            <a:ext cx="4206240" cy="4206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hero-road"/>
          <p:cNvSpPr/>
          <p:nvPr/>
        </p:nvSpPr>
        <p:spPr>
          <a:xfrm flipV="1">
            <a:off x="6949440" y="4023360"/>
            <a:ext cx="5212080" cy="20116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hero-road-2"/>
          <p:cNvSpPr/>
          <p:nvPr/>
        </p:nvSpPr>
        <p:spPr>
          <a:xfrm flipV="1">
            <a:off x="6492240" y="4206240"/>
            <a:ext cx="5669280" cy="2286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hero-badge"/>
          <p:cNvSpPr/>
          <p:nvPr/>
        </p:nvSpPr>
        <p:spPr>
          <a:xfrm>
            <a:off x="8732520" y="182880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EV charging stati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37744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097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ELECTRIC VEHICLES  |  TRANSPORTATION AND MOBILITY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002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Highway Corridor Reliability Gap Analysis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A Python-Based Data Analysis and geospatial analysis of fast-charging coverage on six Indian national highways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00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Inbavathi Murugan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Student ID: AF05309783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Course: AIML  |  Batch: ANP-D7444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Anudip Foundation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Industry Overview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-bg-FaCarSide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-FaCarSide" descr="FaCarS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376365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 and Mobility Industry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45820" y="3910374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India's road transport is shifting towards electric vehicles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10,377,820 EV registrations in the 2017–2026 dataset (2026 partial)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Charging networks must keep pace with vehicles on the road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52544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icon-bg-FaRoad"/>
          <p:cNvSpPr/>
          <p:nvPr/>
        </p:nvSpPr>
        <p:spPr>
          <a:xfrm>
            <a:off x="4672584" y="1783080"/>
            <a:ext cx="822960" cy="8229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-FaRoad" descr="FaRo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554" y="1997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72584" y="330069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Highway Charging Matters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49724" y="4154739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Long-distance trips depend on fast chargers along the route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long uncovered stretch can break an intercity journey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Highways link states, so gaps are not only a local problem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56448" y="1463040"/>
            <a:ext cx="3611880" cy="448056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icon-bg-FaChartBar"/>
          <p:cNvSpPr/>
          <p:nvPr/>
        </p:nvSpPr>
        <p:spPr>
          <a:xfrm>
            <a:off x="8476488" y="1783080"/>
            <a:ext cx="822960" cy="8229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-FaChartBar" descr="FaChartB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458" y="19970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88401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Role of Data Analysis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76488" y="4019598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Combines registrations, charger records and road geometry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Turns coverage into measurable kilometres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Helps planners decide where new chargers are needed first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C109A37-B80E-A7F8-43E2-B0D3F0C8D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624816"/>
            <a:ext cx="2994660" cy="16333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B80E12-902A-674A-C812-A07EE8F054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638" y="1624816"/>
            <a:ext cx="3037692" cy="15889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3229FB8-999F-FD8C-2B72-94797714A0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7446" y="1600433"/>
            <a:ext cx="3017520" cy="16376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challenge-card"/>
          <p:cNvSpPr/>
          <p:nvPr/>
        </p:nvSpPr>
        <p:spPr>
          <a:xfrm>
            <a:off x="548640" y="1463040"/>
            <a:ext cx="3657600" cy="4480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Challenge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5766"/>
            <a:ext cx="2649415" cy="341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Fast-charging infrastructure is distributed unevenly across states and routes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highway can have many chargers nearby and still contain long stretches without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 registration growth and charger rollout do not always match</a:t>
            </a:r>
            <a:endParaRPr lang="en-US" sz="1400" dirty="0"/>
          </a:p>
        </p:txBody>
      </p:sp>
      <p:sp>
        <p:nvSpPr>
          <p:cNvPr id="6" name="callout-card"/>
          <p:cNvSpPr>
            <a:spLocks/>
          </p:cNvSpPr>
          <p:nvPr/>
        </p:nvSpPr>
        <p:spPr>
          <a:xfrm>
            <a:off x="4434840" y="1463040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7091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Charger count does not equal coverage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243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fast chargers near NH-66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376 km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still uncovered on the same highway</a:t>
            </a:r>
            <a:endParaRPr lang="en-US" sz="1400" dirty="0"/>
          </a:p>
        </p:txBody>
      </p:sp>
      <p:sp>
        <p:nvSpPr>
          <p:cNvPr id="12" name="stakeholder-card"/>
          <p:cNvSpPr/>
          <p:nvPr/>
        </p:nvSpPr>
        <p:spPr>
          <a:xfrm>
            <a:off x="8229600" y="1463040"/>
            <a:ext cx="3410712" cy="4480560"/>
          </a:xfrm>
          <a:prstGeom prst="roundRect">
            <a:avLst>
              <a:gd name="adj" fmla="val 26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50392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Who Is Affected</a:t>
            </a:r>
            <a:endParaRPr lang="en-US" sz="2000" dirty="0"/>
          </a:p>
        </p:txBody>
      </p:sp>
      <p:sp>
        <p:nvSpPr>
          <p:cNvPr id="14" name="icon-bg-FaCarSide"/>
          <p:cNvSpPr/>
          <p:nvPr/>
        </p:nvSpPr>
        <p:spPr>
          <a:xfrm>
            <a:off x="8503920" y="233172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-FaCarSide" descr="FaCarS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341" y="2498141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32688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 owners and drivers</a:t>
            </a:r>
            <a:endParaRPr lang="en-US" sz="1400" dirty="0"/>
          </a:p>
        </p:txBody>
      </p:sp>
      <p:sp>
        <p:nvSpPr>
          <p:cNvPr id="17" name="icon-bg-FaBus"/>
          <p:cNvSpPr/>
          <p:nvPr/>
        </p:nvSpPr>
        <p:spPr>
          <a:xfrm>
            <a:off x="8503920" y="3227832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con-FaBus" descr="FaB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341" y="3394253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326880" y="32278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Fleet and bus operators</a:t>
            </a:r>
            <a:endParaRPr lang="en-US" sz="1400" dirty="0"/>
          </a:p>
        </p:txBody>
      </p:sp>
      <p:sp>
        <p:nvSpPr>
          <p:cNvPr id="20" name="icon-bg-FaChargingStation"/>
          <p:cNvSpPr/>
          <p:nvPr/>
        </p:nvSpPr>
        <p:spPr>
          <a:xfrm>
            <a:off x="8503920" y="4123944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con-FaChargingStation" descr="FaChargingSt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341" y="4290365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26880" y="41239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Charging network operators</a:t>
            </a:r>
            <a:endParaRPr lang="en-US" sz="1400" dirty="0"/>
          </a:p>
        </p:txBody>
      </p:sp>
      <p:sp>
        <p:nvSpPr>
          <p:cNvPr id="23" name="icon-bg-FaUsers"/>
          <p:cNvSpPr/>
          <p:nvPr/>
        </p:nvSpPr>
        <p:spPr>
          <a:xfrm>
            <a:off x="8503920" y="5020056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con-FaUsers" descr="FaUs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341" y="5186477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50200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Planners and policymakers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4CAF-0F5A-7C9D-8AC0-25B6470D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153901-06F0-2695-445C-1B7FDE07FA68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objective-row-1">
            <a:extLst>
              <a:ext uri="{FF2B5EF4-FFF2-40B4-BE49-F238E27FC236}">
                <a16:creationId xmlns:a16="http://schemas.microsoft.com/office/drawing/2014/main" id="{8829500A-9AD3-BDE4-F713-FF696FA6D1B6}"/>
              </a:ext>
            </a:extLst>
          </p:cNvPr>
          <p:cNvSpPr/>
          <p:nvPr/>
        </p:nvSpPr>
        <p:spPr>
          <a:xfrm>
            <a:off x="548640" y="1417320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3D2845-62C5-AFE0-5F8C-68F474933CAD}"/>
              </a:ext>
            </a:extLst>
          </p:cNvPr>
          <p:cNvSpPr/>
          <p:nvPr/>
        </p:nvSpPr>
        <p:spPr>
          <a:xfrm>
            <a:off x="777240" y="1563624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7D3232-91FA-44E8-AAF3-730995CEAB7B}"/>
              </a:ext>
            </a:extLst>
          </p:cNvPr>
          <p:cNvSpPr txBox="1"/>
          <p:nvPr/>
        </p:nvSpPr>
        <p:spPr>
          <a:xfrm>
            <a:off x="777240" y="15636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D3E74B-822B-A12D-7963-1FAA9F6F3A47}"/>
              </a:ext>
            </a:extLst>
          </p:cNvPr>
          <p:cNvSpPr txBox="1"/>
          <p:nvPr/>
        </p:nvSpPr>
        <p:spPr>
          <a:xfrm>
            <a:off x="1554480" y="14173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Analyze EV registrations across states and Union Territories</a:t>
            </a:r>
            <a:endParaRPr lang="en-US" sz="1800" dirty="0"/>
          </a:p>
        </p:txBody>
      </p:sp>
      <p:sp>
        <p:nvSpPr>
          <p:cNvPr id="7" name="icon-bg-FaCarSide">
            <a:extLst>
              <a:ext uri="{FF2B5EF4-FFF2-40B4-BE49-F238E27FC236}">
                <a16:creationId xmlns:a16="http://schemas.microsoft.com/office/drawing/2014/main" id="{3BA8A0C6-FD7F-EA8D-6082-9EE3DCD37C4A}"/>
              </a:ext>
            </a:extLst>
          </p:cNvPr>
          <p:cNvSpPr/>
          <p:nvPr/>
        </p:nvSpPr>
        <p:spPr>
          <a:xfrm>
            <a:off x="10652760" y="1545336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con-FaCarSide" descr="FaCarSide">
            <a:extLst>
              <a:ext uri="{FF2B5EF4-FFF2-40B4-BE49-F238E27FC236}">
                <a16:creationId xmlns:a16="http://schemas.microsoft.com/office/drawing/2014/main" id="{A5AD08D6-CC36-7200-56F2-A6D189F36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406" y="1687982"/>
            <a:ext cx="263347" cy="263347"/>
          </a:xfrm>
          <a:prstGeom prst="rect">
            <a:avLst/>
          </a:prstGeom>
        </p:spPr>
      </p:pic>
      <p:sp>
        <p:nvSpPr>
          <p:cNvPr id="9" name="objective-row-2">
            <a:extLst>
              <a:ext uri="{FF2B5EF4-FFF2-40B4-BE49-F238E27FC236}">
                <a16:creationId xmlns:a16="http://schemas.microsoft.com/office/drawing/2014/main" id="{CDAA3E2C-D20E-1A1E-393F-1756026FD807}"/>
              </a:ext>
            </a:extLst>
          </p:cNvPr>
          <p:cNvSpPr/>
          <p:nvPr/>
        </p:nvSpPr>
        <p:spPr>
          <a:xfrm>
            <a:off x="548640" y="2350008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104A378-3924-73C7-C197-E38AFF04B689}"/>
              </a:ext>
            </a:extLst>
          </p:cNvPr>
          <p:cNvSpPr/>
          <p:nvPr/>
        </p:nvSpPr>
        <p:spPr>
          <a:xfrm>
            <a:off x="777240" y="2496312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74AD9BC-DB1E-E842-B99D-DBF1A6C2E937}"/>
              </a:ext>
            </a:extLst>
          </p:cNvPr>
          <p:cNvSpPr txBox="1"/>
          <p:nvPr/>
        </p:nvSpPr>
        <p:spPr>
          <a:xfrm>
            <a:off x="777240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610CC4D-DCDC-9F07-9FBD-714E58A82085}"/>
              </a:ext>
            </a:extLst>
          </p:cNvPr>
          <p:cNvSpPr txBox="1"/>
          <p:nvPr/>
        </p:nvSpPr>
        <p:spPr>
          <a:xfrm>
            <a:off x="1554480" y="2350008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Examine charging station distribution and operational status</a:t>
            </a:r>
            <a:endParaRPr lang="en-US" sz="1800" dirty="0"/>
          </a:p>
        </p:txBody>
      </p:sp>
      <p:sp>
        <p:nvSpPr>
          <p:cNvPr id="13" name="icon-bg-FaChargingStation">
            <a:extLst>
              <a:ext uri="{FF2B5EF4-FFF2-40B4-BE49-F238E27FC236}">
                <a16:creationId xmlns:a16="http://schemas.microsoft.com/office/drawing/2014/main" id="{18B0B4CF-8213-9AC1-738B-54097CFB11B4}"/>
              </a:ext>
            </a:extLst>
          </p:cNvPr>
          <p:cNvSpPr/>
          <p:nvPr/>
        </p:nvSpPr>
        <p:spPr>
          <a:xfrm>
            <a:off x="10652760" y="2478024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con-FaChargingStation" descr="FaChargingStation">
            <a:extLst>
              <a:ext uri="{FF2B5EF4-FFF2-40B4-BE49-F238E27FC236}">
                <a16:creationId xmlns:a16="http://schemas.microsoft.com/office/drawing/2014/main" id="{646C79A2-D45B-4F5E-29EB-615184F46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406" y="2620670"/>
            <a:ext cx="263347" cy="263347"/>
          </a:xfrm>
          <a:prstGeom prst="rect">
            <a:avLst/>
          </a:prstGeom>
        </p:spPr>
      </p:pic>
      <p:sp>
        <p:nvSpPr>
          <p:cNvPr id="15" name="objective-row-3">
            <a:extLst>
              <a:ext uri="{FF2B5EF4-FFF2-40B4-BE49-F238E27FC236}">
                <a16:creationId xmlns:a16="http://schemas.microsoft.com/office/drawing/2014/main" id="{12A7A842-96F9-32B4-DEAA-C8C7328804AB}"/>
              </a:ext>
            </a:extLst>
          </p:cNvPr>
          <p:cNvSpPr/>
          <p:nvPr/>
        </p:nvSpPr>
        <p:spPr>
          <a:xfrm>
            <a:off x="548640" y="3282696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513A181-1991-2676-15A6-2449A314BBF7}"/>
              </a:ext>
            </a:extLst>
          </p:cNvPr>
          <p:cNvSpPr/>
          <p:nvPr/>
        </p:nvSpPr>
        <p:spPr>
          <a:xfrm>
            <a:off x="777240" y="3429000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BED42C7-D3DE-2DEC-1C71-1D028A0368B1}"/>
              </a:ext>
            </a:extLst>
          </p:cNvPr>
          <p:cNvSpPr txBox="1"/>
          <p:nvPr/>
        </p:nvSpPr>
        <p:spPr>
          <a:xfrm>
            <a:off x="777240" y="3429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AEC9112-42D9-FF0D-E31E-5CD4E3D571AE}"/>
              </a:ext>
            </a:extLst>
          </p:cNvPr>
          <p:cNvSpPr txBox="1"/>
          <p:nvPr/>
        </p:nvSpPr>
        <p:spPr>
          <a:xfrm>
            <a:off x="1554480" y="3282696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Evaluate charging coverage on six national highways</a:t>
            </a:r>
            <a:endParaRPr lang="en-US" sz="1800" dirty="0"/>
          </a:p>
        </p:txBody>
      </p:sp>
      <p:sp>
        <p:nvSpPr>
          <p:cNvPr id="19" name="icon-bg-FaRoad">
            <a:extLst>
              <a:ext uri="{FF2B5EF4-FFF2-40B4-BE49-F238E27FC236}">
                <a16:creationId xmlns:a16="http://schemas.microsoft.com/office/drawing/2014/main" id="{50523673-AA63-BF5C-95A4-CE4C6DA6DCD9}"/>
              </a:ext>
            </a:extLst>
          </p:cNvPr>
          <p:cNvSpPr/>
          <p:nvPr/>
        </p:nvSpPr>
        <p:spPr>
          <a:xfrm>
            <a:off x="10652760" y="3410712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-FaRoad" descr="FaRoad">
            <a:extLst>
              <a:ext uri="{FF2B5EF4-FFF2-40B4-BE49-F238E27FC236}">
                <a16:creationId xmlns:a16="http://schemas.microsoft.com/office/drawing/2014/main" id="{E899EC2B-0EB3-C16B-4060-30A273D3F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406" y="3553358"/>
            <a:ext cx="263347" cy="263347"/>
          </a:xfrm>
          <a:prstGeom prst="rect">
            <a:avLst/>
          </a:prstGeom>
        </p:spPr>
      </p:pic>
      <p:sp>
        <p:nvSpPr>
          <p:cNvPr id="21" name="objective-row-4">
            <a:extLst>
              <a:ext uri="{FF2B5EF4-FFF2-40B4-BE49-F238E27FC236}">
                <a16:creationId xmlns:a16="http://schemas.microsoft.com/office/drawing/2014/main" id="{92AAB962-380E-7579-62C0-014E6E68AC11}"/>
              </a:ext>
            </a:extLst>
          </p:cNvPr>
          <p:cNvSpPr/>
          <p:nvPr/>
        </p:nvSpPr>
        <p:spPr>
          <a:xfrm>
            <a:off x="548640" y="4215384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553C02A1-284B-8EE0-207F-5E0603DAB2D1}"/>
              </a:ext>
            </a:extLst>
          </p:cNvPr>
          <p:cNvSpPr/>
          <p:nvPr/>
        </p:nvSpPr>
        <p:spPr>
          <a:xfrm>
            <a:off x="777240" y="4361688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91D4FDC-0C06-261E-2A95-30A40191CEE0}"/>
              </a:ext>
            </a:extLst>
          </p:cNvPr>
          <p:cNvSpPr txBox="1"/>
          <p:nvPr/>
        </p:nvSpPr>
        <p:spPr>
          <a:xfrm>
            <a:off x="777240" y="4361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ADC59359-907C-C7B5-E2E8-FEC39FD7FA24}"/>
              </a:ext>
            </a:extLst>
          </p:cNvPr>
          <p:cNvSpPr txBox="1"/>
          <p:nvPr/>
        </p:nvSpPr>
        <p:spPr>
          <a:xfrm>
            <a:off x="1554480" y="4215384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Identify uncovered highway stretches and long gaps</a:t>
            </a:r>
            <a:endParaRPr lang="en-US" sz="1800" dirty="0"/>
          </a:p>
        </p:txBody>
      </p:sp>
      <p:sp>
        <p:nvSpPr>
          <p:cNvPr id="25" name="icon-bg-FaExclamationTriangle">
            <a:extLst>
              <a:ext uri="{FF2B5EF4-FFF2-40B4-BE49-F238E27FC236}">
                <a16:creationId xmlns:a16="http://schemas.microsoft.com/office/drawing/2014/main" id="{ADD1001E-8EEA-FD35-DE58-E9F2397BC611}"/>
              </a:ext>
            </a:extLst>
          </p:cNvPr>
          <p:cNvSpPr/>
          <p:nvPr/>
        </p:nvSpPr>
        <p:spPr>
          <a:xfrm>
            <a:off x="10652760" y="4343400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con-FaExclamationTriangle" descr="FaExclamationTriangle">
            <a:extLst>
              <a:ext uri="{FF2B5EF4-FFF2-40B4-BE49-F238E27FC236}">
                <a16:creationId xmlns:a16="http://schemas.microsoft.com/office/drawing/2014/main" id="{731E8323-FD1C-8EBB-0529-BA3FA4792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406" y="4486046"/>
            <a:ext cx="263347" cy="263347"/>
          </a:xfrm>
          <a:prstGeom prst="rect">
            <a:avLst/>
          </a:prstGeom>
        </p:spPr>
      </p:pic>
      <p:sp>
        <p:nvSpPr>
          <p:cNvPr id="27" name="objective-row-5">
            <a:extLst>
              <a:ext uri="{FF2B5EF4-FFF2-40B4-BE49-F238E27FC236}">
                <a16:creationId xmlns:a16="http://schemas.microsoft.com/office/drawing/2014/main" id="{145989FC-33F5-E804-DDD4-1B17EABECC4F}"/>
              </a:ext>
            </a:extLst>
          </p:cNvPr>
          <p:cNvSpPr/>
          <p:nvPr/>
        </p:nvSpPr>
        <p:spPr>
          <a:xfrm>
            <a:off x="548640" y="5148072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546DE71A-65CC-872B-01AE-DD2207339B1E}"/>
              </a:ext>
            </a:extLst>
          </p:cNvPr>
          <p:cNvSpPr/>
          <p:nvPr/>
        </p:nvSpPr>
        <p:spPr>
          <a:xfrm>
            <a:off x="777240" y="529437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6A69B077-B624-429E-4C09-5D458057BF9D}"/>
              </a:ext>
            </a:extLst>
          </p:cNvPr>
          <p:cNvSpPr txBox="1"/>
          <p:nvPr/>
        </p:nvSpPr>
        <p:spPr>
          <a:xfrm>
            <a:off x="777240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51286A53-2123-53D9-A36F-2D6B8AAEF655}"/>
              </a:ext>
            </a:extLst>
          </p:cNvPr>
          <p:cNvSpPr txBox="1"/>
          <p:nvPr/>
        </p:nvSpPr>
        <p:spPr>
          <a:xfrm>
            <a:off x="1554480" y="5148072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 gap indicators using sensitivity analysis and clustering</a:t>
            </a:r>
            <a:endParaRPr lang="en-US" sz="1800" dirty="0"/>
          </a:p>
        </p:txBody>
      </p:sp>
      <p:sp>
        <p:nvSpPr>
          <p:cNvPr id="31" name="icon-bg-FaLayerGroup">
            <a:extLst>
              <a:ext uri="{FF2B5EF4-FFF2-40B4-BE49-F238E27FC236}">
                <a16:creationId xmlns:a16="http://schemas.microsoft.com/office/drawing/2014/main" id="{2477B737-DC45-4249-54CE-6A35A769A860}"/>
              </a:ext>
            </a:extLst>
          </p:cNvPr>
          <p:cNvSpPr/>
          <p:nvPr/>
        </p:nvSpPr>
        <p:spPr>
          <a:xfrm>
            <a:off x="10652760" y="5276088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con-FaLayerGroup" descr="FaLayerGroup">
            <a:extLst>
              <a:ext uri="{FF2B5EF4-FFF2-40B4-BE49-F238E27FC236}">
                <a16:creationId xmlns:a16="http://schemas.microsoft.com/office/drawing/2014/main" id="{CB36B05D-DB36-EA0E-4730-725C39FE9C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406" y="5418734"/>
            <a:ext cx="263347" cy="263347"/>
          </a:xfrm>
          <a:prstGeom prst="rect">
            <a:avLst/>
          </a:prstGeom>
        </p:spPr>
      </p:pic>
      <p:sp>
        <p:nvSpPr>
          <p:cNvPr id="33" name="Slide Number Placeholder 0">
            <a:extLst>
              <a:ext uri="{FF2B5EF4-FFF2-40B4-BE49-F238E27FC236}">
                <a16:creationId xmlns:a16="http://schemas.microsoft.com/office/drawing/2014/main" id="{17DA4F98-DAB6-29E5-1B45-0A2FF70002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5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Solution and Analysis Questions</a:t>
            </a:r>
            <a:endParaRPr lang="en-US" sz="3200" dirty="0"/>
          </a:p>
        </p:txBody>
      </p:sp>
      <p:sp>
        <p:nvSpPr>
          <p:cNvPr id="3" name="dataset-card-0"/>
          <p:cNvSpPr/>
          <p:nvPr/>
        </p:nvSpPr>
        <p:spPr>
          <a:xfrm>
            <a:off x="548640" y="1417320"/>
            <a:ext cx="17373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-bg-FaCarSide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-FaCarSide" descr="FaCarS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0574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 registrations</a:t>
            </a:r>
            <a:endParaRPr lang="en-US" sz="1400" dirty="0"/>
          </a:p>
        </p:txBody>
      </p:sp>
      <p:sp>
        <p:nvSpPr>
          <p:cNvPr id="7" name="dataset-card-1"/>
          <p:cNvSpPr/>
          <p:nvPr/>
        </p:nvSpPr>
        <p:spPr>
          <a:xfrm>
            <a:off x="2395728" y="1417320"/>
            <a:ext cx="17373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-bg-FaChargingStation"/>
          <p:cNvSpPr/>
          <p:nvPr/>
        </p:nvSpPr>
        <p:spPr>
          <a:xfrm>
            <a:off x="2505456" y="1554480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con-FaChargingStation" descr="FaChargingSt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167335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05456" y="20574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Charging stations</a:t>
            </a:r>
            <a:endParaRPr lang="en-US" sz="1400" dirty="0"/>
          </a:p>
        </p:txBody>
      </p:sp>
      <p:sp>
        <p:nvSpPr>
          <p:cNvPr id="11" name="dataset-card-2"/>
          <p:cNvSpPr/>
          <p:nvPr/>
        </p:nvSpPr>
        <p:spPr>
          <a:xfrm>
            <a:off x="4242816" y="1417320"/>
            <a:ext cx="17373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-bg-FaRoad"/>
          <p:cNvSpPr/>
          <p:nvPr/>
        </p:nvSpPr>
        <p:spPr>
          <a:xfrm>
            <a:off x="4352544" y="1554480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con-FaRoad" descr="FaRo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6733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52544" y="20574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National highways</a:t>
            </a:r>
            <a:endParaRPr lang="en-US" sz="1400" dirty="0"/>
          </a:p>
        </p:txBody>
      </p:sp>
      <p:sp>
        <p:nvSpPr>
          <p:cNvPr id="15" name="dataset-card-3"/>
          <p:cNvSpPr/>
          <p:nvPr/>
        </p:nvSpPr>
        <p:spPr>
          <a:xfrm>
            <a:off x="6089904" y="1417320"/>
            <a:ext cx="17373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-bg-FaMapMarkedAlt"/>
          <p:cNvSpPr/>
          <p:nvPr/>
        </p:nvSpPr>
        <p:spPr>
          <a:xfrm>
            <a:off x="6199632" y="1554480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con-FaMapMarkedAlt" descr="FaMapMarkedA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167335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99632" y="20574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State and UT boundaries</a:t>
            </a:r>
            <a:endParaRPr lang="en-US" sz="1400" dirty="0"/>
          </a:p>
        </p:txBody>
      </p:sp>
      <p:pic>
        <p:nvPicPr>
          <p:cNvPr id="19" name="Image 4" descr="arr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1810512"/>
            <a:ext cx="365760" cy="365760"/>
          </a:xfrm>
          <a:prstGeom prst="rect">
            <a:avLst/>
          </a:prstGeom>
        </p:spPr>
      </p:pic>
      <p:sp>
        <p:nvSpPr>
          <p:cNvPr id="20" name="python-card"/>
          <p:cNvSpPr/>
          <p:nvPr/>
        </p:nvSpPr>
        <p:spPr>
          <a:xfrm>
            <a:off x="8503920" y="1417320"/>
            <a:ext cx="313639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icon-bg-FaPython"/>
          <p:cNvSpPr/>
          <p:nvPr/>
        </p:nvSpPr>
        <p:spPr>
          <a:xfrm>
            <a:off x="8686800" y="1627632"/>
            <a:ext cx="713232" cy="71323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con-FaPython" descr="FaPyth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240" y="1813072"/>
            <a:ext cx="342351" cy="34235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555480" y="1417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combined into one analysis</a:t>
            </a:r>
            <a:endParaRPr lang="en-US" sz="1400" dirty="0"/>
          </a:p>
        </p:txBody>
      </p:sp>
      <p:sp>
        <p:nvSpPr>
          <p:cNvPr id="24" name="approach-card"/>
          <p:cNvSpPr/>
          <p:nvPr/>
        </p:nvSpPr>
        <p:spPr>
          <a:xfrm>
            <a:off x="548640" y="2834640"/>
            <a:ext cx="45720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 txBox="1"/>
          <p:nvPr/>
        </p:nvSpPr>
        <p:spPr>
          <a:xfrm>
            <a:off x="82296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Approach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822960" y="35204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Clean and standardise all datasets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Split highways into ~25 km segments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Draw a 5 km corridor buffer; match fast chargers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Flag segments with no fast charger within 50 km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Compare states: EV Desert Index, sensitivity, K-Means</a:t>
            </a:r>
            <a:endParaRPr lang="en-US" sz="1400" dirty="0"/>
          </a:p>
        </p:txBody>
      </p:sp>
      <p:sp>
        <p:nvSpPr>
          <p:cNvPr id="27" name="questions-card"/>
          <p:cNvSpPr/>
          <p:nvPr/>
        </p:nvSpPr>
        <p:spPr>
          <a:xfrm>
            <a:off x="5349240" y="2834640"/>
            <a:ext cx="6291072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 txBox="1"/>
          <p:nvPr/>
        </p:nvSpPr>
        <p:spPr>
          <a:xfrm>
            <a:off x="5623560" y="3017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Analysis Questions</a:t>
            </a:r>
            <a:endParaRPr lang="en-US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5623560" y="3520440"/>
            <a:ext cx="5760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states and UTs have the most EV registrations?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many chargers are operational, and how many are fast (≥25 kW)?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What share of each of the six highways has fast-charger coverage?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Where are the longest uncovered stretches (&gt;50 km)?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 charger counts alone reflect corridor coverage?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states hold the most uncovered highway length?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4FE3-4C26-93A6-7477-66376585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0331CA-FA82-50A8-AD0E-C2EB1ED43FF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 Information</a:t>
            </a:r>
            <a:endParaRPr lang="en-US" sz="3200" dirty="0"/>
          </a:p>
        </p:txBody>
      </p:sp>
      <p:sp>
        <p:nvSpPr>
          <p:cNvPr id="3" name="dataset-info-0">
            <a:extLst>
              <a:ext uri="{FF2B5EF4-FFF2-40B4-BE49-F238E27FC236}">
                <a16:creationId xmlns:a16="http://schemas.microsoft.com/office/drawing/2014/main" id="{FE2124E6-3E84-9301-1A3A-D21A283CD430}"/>
              </a:ext>
            </a:extLst>
          </p:cNvPr>
          <p:cNvSpPr/>
          <p:nvPr/>
        </p:nvSpPr>
        <p:spPr>
          <a:xfrm>
            <a:off x="548640" y="1417320"/>
            <a:ext cx="2651760" cy="38404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-bg-FaCarSide">
            <a:extLst>
              <a:ext uri="{FF2B5EF4-FFF2-40B4-BE49-F238E27FC236}">
                <a16:creationId xmlns:a16="http://schemas.microsoft.com/office/drawing/2014/main" id="{143A6137-9EF8-C98D-22AF-1331F9C92019}"/>
              </a:ext>
            </a:extLst>
          </p:cNvPr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-FaCarSide" descr="FaCarSide">
            <a:extLst>
              <a:ext uri="{FF2B5EF4-FFF2-40B4-BE49-F238E27FC236}">
                <a16:creationId xmlns:a16="http://schemas.microsoft.com/office/drawing/2014/main" id="{C384B7B7-1E75-41C6-B340-D90239D42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62F8692-D941-A4F4-C012-2B84E5BCE5FF}"/>
              </a:ext>
            </a:extLst>
          </p:cNvPr>
          <p:cNvSpPr txBox="1"/>
          <p:nvPr/>
        </p:nvSpPr>
        <p:spPr>
          <a:xfrm>
            <a:off x="777240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 Registration Data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FD85DA3-AD6C-1614-4A2F-6CD0C2D03C07}"/>
              </a:ext>
            </a:extLst>
          </p:cNvPr>
          <p:cNvSpPr txBox="1"/>
          <p:nvPr/>
        </p:nvSpPr>
        <p:spPr>
          <a:xfrm>
            <a:off x="777240" y="3017520"/>
            <a:ext cx="20329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</a:rPr>
              <a:t>Source: </a:t>
            </a:r>
            <a:r>
              <a:rPr lang="en-US" sz="1400" dirty="0">
                <a:solidFill>
                  <a:schemeClr val="tx1"/>
                </a:solidFill>
              </a:rPr>
              <a:t>Vahan Dashboard</a:t>
            </a:r>
            <a:endParaRPr lang="en-US" sz="1400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1400" dirty="0"/>
              <a:t>Year, State/UT, Vehicle category, Registration status.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1400" dirty="0"/>
              <a:t>Format: CSV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036C379-15C8-3043-7846-4403BF33103D}"/>
              </a:ext>
            </a:extLst>
          </p:cNvPr>
          <p:cNvSpPr txBox="1"/>
          <p:nvPr/>
        </p:nvSpPr>
        <p:spPr>
          <a:xfrm>
            <a:off x="673597" y="468771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36 raw records</a:t>
            </a:r>
            <a:endParaRPr lang="en-US" sz="1400" dirty="0"/>
          </a:p>
        </p:txBody>
      </p:sp>
      <p:sp>
        <p:nvSpPr>
          <p:cNvPr id="9" name="dataset-info-1">
            <a:extLst>
              <a:ext uri="{FF2B5EF4-FFF2-40B4-BE49-F238E27FC236}">
                <a16:creationId xmlns:a16="http://schemas.microsoft.com/office/drawing/2014/main" id="{A95CC6CF-8244-945C-3462-53E4FB3EF7D7}"/>
              </a:ext>
            </a:extLst>
          </p:cNvPr>
          <p:cNvSpPr/>
          <p:nvPr/>
        </p:nvSpPr>
        <p:spPr>
          <a:xfrm>
            <a:off x="3364992" y="1417320"/>
            <a:ext cx="2651760" cy="38404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icon-bg-FaChargingStation">
            <a:extLst>
              <a:ext uri="{FF2B5EF4-FFF2-40B4-BE49-F238E27FC236}">
                <a16:creationId xmlns:a16="http://schemas.microsoft.com/office/drawing/2014/main" id="{4790D1E6-D815-C3CE-126D-06A971DB04AC}"/>
              </a:ext>
            </a:extLst>
          </p:cNvPr>
          <p:cNvSpPr/>
          <p:nvPr/>
        </p:nvSpPr>
        <p:spPr>
          <a:xfrm>
            <a:off x="3593592" y="164592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con-FaChargingStation" descr="FaChargingStation">
            <a:extLst>
              <a:ext uri="{FF2B5EF4-FFF2-40B4-BE49-F238E27FC236}">
                <a16:creationId xmlns:a16="http://schemas.microsoft.com/office/drawing/2014/main" id="{42724BB7-101B-8035-53FD-A283DA785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013" y="1812341"/>
            <a:ext cx="307238" cy="307238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4CA663E-374A-B44F-FC98-C3BEF61AE058}"/>
              </a:ext>
            </a:extLst>
          </p:cNvPr>
          <p:cNvSpPr txBox="1"/>
          <p:nvPr/>
        </p:nvSpPr>
        <p:spPr>
          <a:xfrm>
            <a:off x="3593592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 Charging Station Data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AE1A1E-BB6B-DFEA-8E3A-122A941552BB}"/>
              </a:ext>
            </a:extLst>
          </p:cNvPr>
          <p:cNvSpPr txBox="1"/>
          <p:nvPr/>
        </p:nvSpPr>
        <p:spPr>
          <a:xfrm>
            <a:off x="3570732" y="3031002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</a:rPr>
              <a:t>Source: </a:t>
            </a:r>
            <a:r>
              <a:rPr lang="en-US" sz="1400" dirty="0">
                <a:solidFill>
                  <a:schemeClr val="tx1"/>
                </a:solidFill>
              </a:rPr>
              <a:t>Open Charge Map AP</a:t>
            </a:r>
            <a:r>
              <a:rPr lang="en-US" sz="1400" dirty="0"/>
              <a:t>I.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dirty="0"/>
              <a:t>Geographic coordinates, Operational status, Maximum charging power.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dirty="0"/>
              <a:t>Format: CSV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C5BC167-DA1D-15F3-97D7-895904A95334}"/>
              </a:ext>
            </a:extLst>
          </p:cNvPr>
          <p:cNvSpPr txBox="1"/>
          <p:nvPr/>
        </p:nvSpPr>
        <p:spPr>
          <a:xfrm>
            <a:off x="3564637" y="467692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1,979 raw records</a:t>
            </a:r>
            <a:endParaRPr lang="en-US" sz="1400" dirty="0"/>
          </a:p>
        </p:txBody>
      </p:sp>
      <p:sp>
        <p:nvSpPr>
          <p:cNvPr id="15" name="dataset-info-2">
            <a:extLst>
              <a:ext uri="{FF2B5EF4-FFF2-40B4-BE49-F238E27FC236}">
                <a16:creationId xmlns:a16="http://schemas.microsoft.com/office/drawing/2014/main" id="{31C7D989-E046-4689-5B60-6649610D58C2}"/>
              </a:ext>
            </a:extLst>
          </p:cNvPr>
          <p:cNvSpPr/>
          <p:nvPr/>
        </p:nvSpPr>
        <p:spPr>
          <a:xfrm>
            <a:off x="6181344" y="1417320"/>
            <a:ext cx="2651760" cy="38404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icon-bg-FaRoad">
            <a:extLst>
              <a:ext uri="{FF2B5EF4-FFF2-40B4-BE49-F238E27FC236}">
                <a16:creationId xmlns:a16="http://schemas.microsoft.com/office/drawing/2014/main" id="{A688D69E-997D-AEE4-31F1-4F0FE8E69085}"/>
              </a:ext>
            </a:extLst>
          </p:cNvPr>
          <p:cNvSpPr/>
          <p:nvPr/>
        </p:nvSpPr>
        <p:spPr>
          <a:xfrm>
            <a:off x="6409944" y="164592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con-FaRoad" descr="FaRoad">
            <a:extLst>
              <a:ext uri="{FF2B5EF4-FFF2-40B4-BE49-F238E27FC236}">
                <a16:creationId xmlns:a16="http://schemas.microsoft.com/office/drawing/2014/main" id="{39CCD466-0555-E2EF-A80B-B641453C1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1812341"/>
            <a:ext cx="307238" cy="30723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DC909098-4FC0-DE7E-42BB-C64173E0F348}"/>
              </a:ext>
            </a:extLst>
          </p:cNvPr>
          <p:cNvSpPr txBox="1"/>
          <p:nvPr/>
        </p:nvSpPr>
        <p:spPr>
          <a:xfrm>
            <a:off x="6409944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National Highway Data</a:t>
            </a:r>
            <a:endParaRPr lang="en-US" sz="16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FA78265-03A4-6655-0975-B56C346D1967}"/>
              </a:ext>
            </a:extLst>
          </p:cNvPr>
          <p:cNvSpPr txBox="1"/>
          <p:nvPr/>
        </p:nvSpPr>
        <p:spPr>
          <a:xfrm>
            <a:off x="6387084" y="2975317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</a:rPr>
              <a:t>Source: </a:t>
            </a:r>
            <a:r>
              <a:rPr lang="en-US" sz="1400" dirty="0">
                <a:solidFill>
                  <a:schemeClr val="tx1"/>
                </a:solidFill>
              </a:rPr>
              <a:t>MoRTH 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1"/>
                </a:solidFill>
              </a:rPr>
              <a:t>via India Geodata</a:t>
            </a:r>
            <a:endParaRPr lang="en-US" sz="1400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1400" dirty="0"/>
              <a:t>Highway attributes and Geographic geometry.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1400" dirty="0"/>
              <a:t>Format :Parquet / </a:t>
            </a:r>
            <a:r>
              <a:rPr lang="en-IN" sz="1400" dirty="0" err="1"/>
              <a:t>GeoJSON</a:t>
            </a:r>
            <a:endParaRPr lang="en-US" sz="1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B83A80F-4A62-4A95-03E2-9B7E8993866F}"/>
              </a:ext>
            </a:extLst>
          </p:cNvPr>
          <p:cNvSpPr txBox="1"/>
          <p:nvPr/>
        </p:nvSpPr>
        <p:spPr>
          <a:xfrm>
            <a:off x="6387084" y="47320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10,317 raw records</a:t>
            </a:r>
            <a:endParaRPr lang="en-US" sz="1400" dirty="0"/>
          </a:p>
        </p:txBody>
      </p:sp>
      <p:sp>
        <p:nvSpPr>
          <p:cNvPr id="21" name="dataset-info-3">
            <a:extLst>
              <a:ext uri="{FF2B5EF4-FFF2-40B4-BE49-F238E27FC236}">
                <a16:creationId xmlns:a16="http://schemas.microsoft.com/office/drawing/2014/main" id="{A1954B04-FF40-E1E7-F1BB-3904E882887C}"/>
              </a:ext>
            </a:extLst>
          </p:cNvPr>
          <p:cNvSpPr/>
          <p:nvPr/>
        </p:nvSpPr>
        <p:spPr>
          <a:xfrm>
            <a:off x="8997696" y="1417320"/>
            <a:ext cx="2651760" cy="38404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icon-bg-FaMapMarkedAlt">
            <a:extLst>
              <a:ext uri="{FF2B5EF4-FFF2-40B4-BE49-F238E27FC236}">
                <a16:creationId xmlns:a16="http://schemas.microsoft.com/office/drawing/2014/main" id="{2151946F-A367-93CC-DB58-A60EB3F1930C}"/>
              </a:ext>
            </a:extLst>
          </p:cNvPr>
          <p:cNvSpPr/>
          <p:nvPr/>
        </p:nvSpPr>
        <p:spPr>
          <a:xfrm>
            <a:off x="9226296" y="1645920"/>
            <a:ext cx="640080" cy="6400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con-FaMapMarkedAlt" descr="FaMapMarkedAlt">
            <a:extLst>
              <a:ext uri="{FF2B5EF4-FFF2-40B4-BE49-F238E27FC236}">
                <a16:creationId xmlns:a16="http://schemas.microsoft.com/office/drawing/2014/main" id="{2E5A900C-338A-AD0E-4731-7DD1E2F43E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2717" y="1812341"/>
            <a:ext cx="307238" cy="307238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570890BA-88D8-E0CD-09E6-653AADA4DDEC}"/>
              </a:ext>
            </a:extLst>
          </p:cNvPr>
          <p:cNvSpPr txBox="1"/>
          <p:nvPr/>
        </p:nvSpPr>
        <p:spPr>
          <a:xfrm>
            <a:off x="9226296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 and UT Boundaries</a:t>
            </a:r>
            <a:endParaRPr lang="en-US" sz="16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8F412E4-EF13-22C1-9938-219508CB1B88}"/>
              </a:ext>
            </a:extLst>
          </p:cNvPr>
          <p:cNvSpPr txBox="1"/>
          <p:nvPr/>
        </p:nvSpPr>
        <p:spPr>
          <a:xfrm>
            <a:off x="9214620" y="3031002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</a:rPr>
              <a:t>Source: </a:t>
            </a:r>
            <a:r>
              <a:rPr lang="en-US" sz="1400" dirty="0">
                <a:solidFill>
                  <a:schemeClr val="tx1"/>
                </a:solidFill>
              </a:rPr>
              <a:t>India Geodata</a:t>
            </a:r>
            <a:endParaRPr lang="en-US" sz="1400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1400" dirty="0"/>
              <a:t>State/UT names and Polygon Geometry.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1400" dirty="0"/>
              <a:t>Format: Parquet</a:t>
            </a:r>
            <a:endParaRPr lang="en-US" sz="14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011D33C7-897F-1628-2553-CD785A385A24}"/>
              </a:ext>
            </a:extLst>
          </p:cNvPr>
          <p:cNvSpPr txBox="1"/>
          <p:nvPr/>
        </p:nvSpPr>
        <p:spPr>
          <a:xfrm>
            <a:off x="9148572" y="4709195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36 raw records</a:t>
            </a:r>
            <a:endParaRPr lang="en-US" sz="1400" dirty="0"/>
          </a:p>
        </p:txBody>
      </p:sp>
      <p:sp>
        <p:nvSpPr>
          <p:cNvPr id="27" name="dataset-note">
            <a:extLst>
              <a:ext uri="{FF2B5EF4-FFF2-40B4-BE49-F238E27FC236}">
                <a16:creationId xmlns:a16="http://schemas.microsoft.com/office/drawing/2014/main" id="{710650DB-0ACE-5004-4E73-F2A129114F1B}"/>
              </a:ext>
            </a:extLst>
          </p:cNvPr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8DD114B3-2A53-EE1E-37B5-7530EDBD114E}"/>
              </a:ext>
            </a:extLst>
          </p:cNvPr>
          <p:cNvSpPr txBox="1"/>
          <p:nvPr/>
        </p:nvSpPr>
        <p:spPr>
          <a:xfrm>
            <a:off x="672353" y="5440680"/>
            <a:ext cx="107942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road_name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dirty="0" err="1">
                <a:solidFill>
                  <a:schemeClr val="bg1"/>
                </a:solidFill>
              </a:rPr>
              <a:t>state_ut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dirty="0">
                <a:solidFill>
                  <a:schemeClr val="bg1"/>
                </a:solidFill>
              </a:rPr>
              <a:t>status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dirty="0">
                <a:solidFill>
                  <a:schemeClr val="bg1"/>
                </a:solidFill>
              </a:rPr>
              <a:t>geometry</a:t>
            </a:r>
            <a:r>
              <a:rPr lang="en-IN" sz="1400" dirty="0">
                <a:solidFill>
                  <a:schemeClr val="bg1"/>
                </a:solidFill>
              </a:rPr>
              <a:t> (highways); latitude, longitude, power kW, status (chargers); State, 2017 to 2026 (Vahan); </a:t>
            </a:r>
            <a:r>
              <a:rPr lang="en-IN" dirty="0">
                <a:solidFill>
                  <a:schemeClr val="bg1"/>
                </a:solidFill>
              </a:rPr>
              <a:t>STNAME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dirty="0">
                <a:solidFill>
                  <a:schemeClr val="bg1"/>
                </a:solidFill>
              </a:rPr>
              <a:t>geometry</a:t>
            </a:r>
            <a:r>
              <a:rPr lang="en-IN" sz="1400" dirty="0">
                <a:solidFill>
                  <a:schemeClr val="bg1"/>
                </a:solidFill>
              </a:rPr>
              <a:t> (boundaries).</a:t>
            </a:r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D0A7DF2C-E769-212E-207A-8A1B452C8A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B58BF6C-D111-AC79-D9DE-F10B09FBB0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4922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9EC21EB-CC2F-C62C-78F7-251F0A68DC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0"/>
            <a:ext cx="4772642" cy="7637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C628184-FC27-7E59-8E56-794B1D70EC71}"/>
              </a:ext>
            </a:extLst>
          </p:cNvPr>
          <p:cNvSpPr txBox="1"/>
          <p:nvPr/>
        </p:nvSpPr>
        <p:spPr>
          <a:xfrm>
            <a:off x="4143494" y="166371"/>
            <a:ext cx="61800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Dataset Information</a:t>
            </a:r>
            <a:endParaRPr lang="en-I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451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75091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 and Understanding</a:t>
            </a:r>
            <a:endParaRPr lang="en-US" sz="3200" dirty="0"/>
          </a:p>
        </p:txBody>
      </p:sp>
      <p:sp>
        <p:nvSpPr>
          <p:cNvPr id="3" name="collection-card"/>
          <p:cNvSpPr/>
          <p:nvPr/>
        </p:nvSpPr>
        <p:spPr>
          <a:xfrm>
            <a:off x="548640" y="1371600"/>
            <a:ext cx="548640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8848" y="187452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IN" sz="1400" dirty="0"/>
              <a:t>EV registrations: exported from the Vahan dashboard (Electric, Active, calendar years 2017 to 2026)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IN" sz="1400" dirty="0"/>
              <a:t>Chargers: Open Charge Map API (free key)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IN" sz="1400" dirty="0"/>
              <a:t>Highways and boundaries: India Geodata (open licence).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Boundaries: India Geodata state and UT polygons</a:t>
            </a:r>
            <a:endParaRPr lang="en-US" sz="1400" dirty="0"/>
          </a:p>
        </p:txBody>
      </p:sp>
      <p:sp>
        <p:nvSpPr>
          <p:cNvPr id="6" name="tabular-card"/>
          <p:cNvSpPr/>
          <p:nvPr/>
        </p:nvSpPr>
        <p:spPr>
          <a:xfrm>
            <a:off x="548640" y="3520440"/>
            <a:ext cx="54864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The datasets contain a combination of tabular and geospatial information. Registration data supports state- and year-level analysis, while charging stations and highway geometries support spatial distance and coverage analysis.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Inspection checks</a:t>
            </a:r>
            <a:endParaRPr lang="en-US" sz="1800" dirty="0"/>
          </a:p>
        </p:txBody>
      </p:sp>
      <p:sp>
        <p:nvSpPr>
          <p:cNvPr id="11" name="check-pill-0"/>
          <p:cNvSpPr/>
          <p:nvPr/>
        </p:nvSpPr>
        <p:spPr>
          <a:xfrm>
            <a:off x="548640" y="5349240"/>
            <a:ext cx="2651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types</a:t>
            </a:r>
            <a:endParaRPr lang="en-US" sz="1400" dirty="0"/>
          </a:p>
        </p:txBody>
      </p:sp>
      <p:sp>
        <p:nvSpPr>
          <p:cNvPr id="13" name="check-pill-1"/>
          <p:cNvSpPr/>
          <p:nvPr/>
        </p:nvSpPr>
        <p:spPr>
          <a:xfrm>
            <a:off x="3383280" y="5349240"/>
            <a:ext cx="2651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38328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15" name="check-pill-2"/>
          <p:cNvSpPr/>
          <p:nvPr/>
        </p:nvSpPr>
        <p:spPr>
          <a:xfrm>
            <a:off x="548640" y="5806440"/>
            <a:ext cx="2651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Duplicate checks</a:t>
            </a:r>
            <a:endParaRPr lang="en-US" sz="1400" dirty="0"/>
          </a:p>
        </p:txBody>
      </p:sp>
      <p:sp>
        <p:nvSpPr>
          <p:cNvPr id="17" name="check-pill-3"/>
          <p:cNvSpPr/>
          <p:nvPr/>
        </p:nvSpPr>
        <p:spPr>
          <a:xfrm>
            <a:off x="3383280" y="5806440"/>
            <a:ext cx="2651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38328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Geometry validity</a:t>
            </a:r>
            <a:endParaRPr lang="en-US" sz="1400" dirty="0"/>
          </a:p>
        </p:txBody>
      </p:sp>
      <p:sp>
        <p:nvSpPr>
          <p:cNvPr id="19" name="placeholder-box"/>
          <p:cNvSpPr/>
          <p:nvPr/>
        </p:nvSpPr>
        <p:spPr>
          <a:xfrm>
            <a:off x="6355080" y="1371600"/>
            <a:ext cx="5285232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placeholder-box"/>
          <p:cNvSpPr/>
          <p:nvPr/>
        </p:nvSpPr>
        <p:spPr>
          <a:xfrm>
            <a:off x="6355080" y="3886200"/>
            <a:ext cx="5285232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92240" y="3886200"/>
            <a:ext cx="5010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PLACEHOLDER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Insert Jupyter Notebook screenshot: duplicate check and geometry validation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7514E59-BD51-5041-376A-9A80DF779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1641"/>
            <a:ext cx="5437632" cy="5085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Cleaning and Transformation</a:t>
            </a:r>
            <a:endParaRPr lang="en-US" sz="3200" dirty="0"/>
          </a:p>
        </p:txBody>
      </p:sp>
      <p:sp>
        <p:nvSpPr>
          <p:cNvPr id="3" name="stat-chargers"/>
          <p:cNvSpPr/>
          <p:nvPr/>
        </p:nvSpPr>
        <p:spPr>
          <a:xfrm>
            <a:off x="548640" y="1371600"/>
            <a:ext cx="5120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1,979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raw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1,841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cleaned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1,822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operational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Charging station records</a:t>
            </a:r>
            <a:endParaRPr lang="en-US" sz="1400" dirty="0"/>
          </a:p>
        </p:txBody>
      </p:sp>
      <p:sp>
        <p:nvSpPr>
          <p:cNvPr id="11" name="stat-fast"/>
          <p:cNvSpPr/>
          <p:nvPr/>
        </p:nvSpPr>
        <p:spPr>
          <a:xfrm>
            <a:off x="5852160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08076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1,421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fast chargers (≥25 kW)</a:t>
            </a:r>
            <a:endParaRPr lang="en-US" sz="1400" dirty="0"/>
          </a:p>
        </p:txBody>
      </p:sp>
      <p:sp>
        <p:nvSpPr>
          <p:cNvPr id="14" name="stat-highways"/>
          <p:cNvSpPr/>
          <p:nvPr/>
        </p:nvSpPr>
        <p:spPr>
          <a:xfrm>
            <a:off x="8686800" y="1371600"/>
            <a:ext cx="2953512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91540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10,317 → 9,507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highway records, original → cleaned</a:t>
            </a:r>
            <a:endParaRPr lang="en-US" sz="1400" dirty="0"/>
          </a:p>
        </p:txBody>
      </p:sp>
      <p:sp>
        <p:nvSpPr>
          <p:cNvPr id="17" name="steps-card"/>
          <p:cNvSpPr/>
          <p:nvPr/>
        </p:nvSpPr>
        <p:spPr>
          <a:xfrm>
            <a:off x="548640" y="3200400"/>
            <a:ext cx="53949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2296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Cleaning steps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947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Checked and handled duplicate records.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Checked missing values.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Validated geographic geometries and coordinates.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Standardized inconsistent state names.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Reviewed highway attributes.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Filtered charging stations based on operational status.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Prepared cleaned datasets for subsequent analysis.</a:t>
            </a:r>
          </a:p>
        </p:txBody>
      </p:sp>
      <p:sp>
        <p:nvSpPr>
          <p:cNvPr id="20" name="param-0"/>
          <p:cNvSpPr/>
          <p:nvPr/>
        </p:nvSpPr>
        <p:spPr>
          <a:xfrm>
            <a:off x="6126480" y="3200400"/>
            <a:ext cx="26974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309360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~25 km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2004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highway segment</a:t>
            </a:r>
            <a:endParaRPr lang="en-US" sz="1400" dirty="0"/>
          </a:p>
        </p:txBody>
      </p:sp>
      <p:sp>
        <p:nvSpPr>
          <p:cNvPr id="23" name="param-1"/>
          <p:cNvSpPr/>
          <p:nvPr/>
        </p:nvSpPr>
        <p:spPr>
          <a:xfrm>
            <a:off x="8933688" y="3200400"/>
            <a:ext cx="26974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116568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 km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213848" y="32004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corridor buffer</a:t>
            </a:r>
            <a:endParaRPr lang="en-US" sz="1400" dirty="0"/>
          </a:p>
        </p:txBody>
      </p:sp>
      <p:sp>
        <p:nvSpPr>
          <p:cNvPr id="26" name="param-2"/>
          <p:cNvSpPr/>
          <p:nvPr/>
        </p:nvSpPr>
        <p:spPr>
          <a:xfrm>
            <a:off x="6126480" y="3950208"/>
            <a:ext cx="26974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309360" y="3950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50 km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9502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gap threshold</a:t>
            </a:r>
            <a:endParaRPr lang="en-US" sz="1400" dirty="0"/>
          </a:p>
        </p:txBody>
      </p:sp>
      <p:sp>
        <p:nvSpPr>
          <p:cNvPr id="29" name="param-3"/>
          <p:cNvSpPr/>
          <p:nvPr/>
        </p:nvSpPr>
        <p:spPr>
          <a:xfrm>
            <a:off x="8933688" y="3950208"/>
            <a:ext cx="26974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9116568" y="3950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≥25 kW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213848" y="39502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fast charger</a:t>
            </a:r>
            <a:endParaRPr lang="en-US" sz="1400" dirty="0"/>
          </a:p>
        </p:txBody>
      </p:sp>
      <p:sp>
        <p:nvSpPr>
          <p:cNvPr id="32" name="placeholder-box"/>
          <p:cNvSpPr/>
          <p:nvPr/>
        </p:nvSpPr>
        <p:spPr>
          <a:xfrm>
            <a:off x="6126480" y="4754880"/>
            <a:ext cx="551383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DC51FC9-1E57-D499-C31E-522B57CFB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5" y="4709160"/>
            <a:ext cx="5645579" cy="1702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Exploratory Data Analysis</a:t>
            </a:r>
            <a:endParaRPr lang="en-US" sz="3200" dirty="0"/>
          </a:p>
        </p:txBody>
      </p:sp>
      <p:sp>
        <p:nvSpPr>
          <p:cNvPr id="3" name="eda-stat-0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10,377,820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EV registrations in the 2017–2026 dataset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2026 data is partial</a:t>
            </a:r>
            <a:endParaRPr lang="en-US" sz="1200" dirty="0"/>
          </a:p>
        </p:txBody>
      </p:sp>
      <p:sp>
        <p:nvSpPr>
          <p:cNvPr id="7" name="eda-stat-1"/>
          <p:cNvSpPr/>
          <p:nvPr/>
        </p:nvSpPr>
        <p:spPr>
          <a:xfrm>
            <a:off x="4352544" y="137160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626864" y="1554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26864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>
                <a:solidFill>
                  <a:schemeClr val="bg1"/>
                </a:solidFill>
              </a:rPr>
              <a:t>Approximate share of mapped road network identified as uncovered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eda-stat-2"/>
          <p:cNvSpPr/>
          <p:nvPr/>
        </p:nvSpPr>
        <p:spPr>
          <a:xfrm>
            <a:off x="8156448" y="137160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430768" y="1554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~98,551 km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(about 60%) of the mapped road network has no fast charger within 50 km</a:t>
            </a:r>
            <a:endParaRPr lang="en-US" sz="1400" dirty="0"/>
          </a:p>
        </p:txBody>
      </p:sp>
      <p:sp>
        <p:nvSpPr>
          <p:cNvPr id="13" name="analyses-card"/>
          <p:cNvSpPr/>
          <p:nvPr/>
        </p:nvSpPr>
        <p:spPr>
          <a:xfrm>
            <a:off x="548640" y="3840480"/>
            <a:ext cx="1109167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4926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Analyses performed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5399" y="4416447"/>
            <a:ext cx="5029200" cy="257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State-level EV registration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Charger distribution across states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Highway coverage on six national highways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400" dirty="0"/>
              <a:t>Ranked states using the EV Desert Index.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Sensitivity analysis of gap indicators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Three-cluster K-Means analysis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93E5FA-A650-59C2-1F67-FB88F10BA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554" y="3863339"/>
            <a:ext cx="4010025" cy="23545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Visualization</a:t>
            </a:r>
            <a:endParaRPr lang="en-US" sz="3200" dirty="0"/>
          </a:p>
        </p:txBody>
      </p:sp>
      <p:sp>
        <p:nvSpPr>
          <p:cNvPr id="3" name="viz-card-0"/>
          <p:cNvSpPr/>
          <p:nvPr/>
        </p:nvSpPr>
        <p:spPr>
          <a:xfrm>
            <a:off x="548640" y="1325880"/>
            <a:ext cx="5468112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PLACEHOLDER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Insert Gap Map: 6 Highways figure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46304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Gap Map: 6 Highways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Purpose: Locate uncovered stretches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Shows: Highways with 50 km gaps marked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Insight: Longest gap: ~427 km on NH-44</a:t>
            </a:r>
            <a:endParaRPr lang="en-US" sz="1400" dirty="0"/>
          </a:p>
        </p:txBody>
      </p:sp>
      <p:sp>
        <p:nvSpPr>
          <p:cNvPr id="7" name="viz-card-1"/>
          <p:cNvSpPr/>
          <p:nvPr/>
        </p:nvSpPr>
        <p:spPr>
          <a:xfrm>
            <a:off x="6172200" y="1325880"/>
            <a:ext cx="5468112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46520" y="1463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PLACEHOLDER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Insert Highway Scorecard figure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146304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Highway Scorecard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Purpose: Compare highway coverage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Shows: Coverage share per highway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Insight: NH-544 100%, NH-48 97.7%, NH-52 50.0%</a:t>
            </a:r>
            <a:endParaRPr lang="en-US" sz="1400" dirty="0"/>
          </a:p>
        </p:txBody>
      </p:sp>
      <p:sp>
        <p:nvSpPr>
          <p:cNvPr id="11" name="viz-card-2"/>
          <p:cNvSpPr/>
          <p:nvPr/>
        </p:nvSpPr>
        <p:spPr>
          <a:xfrm>
            <a:off x="548640" y="3886200"/>
            <a:ext cx="5468112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402336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PLACEHOLDER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Insert EV Desert Quadrant figure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402336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EV Desert Quadrant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Purpose: Compare demand and supply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Shows: States by EV registrations vs chargers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Insight: confirm from the figure</a:t>
            </a:r>
            <a:endParaRPr lang="en-US" sz="1400" dirty="0"/>
          </a:p>
        </p:txBody>
      </p:sp>
      <p:sp>
        <p:nvSpPr>
          <p:cNvPr id="15" name="viz-card-3"/>
          <p:cNvSpPr/>
          <p:nvPr/>
        </p:nvSpPr>
        <p:spPr>
          <a:xfrm>
            <a:off x="6172200" y="3886200"/>
            <a:ext cx="5468112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46520" y="402336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PLACEHOLDER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Insert Gap Score Map figure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402336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Gap Score Map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Purpose: Map relative gap severity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Shows: State-level gap score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Insight: confirm from the figure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164A80-DD3F-4D7E-B5E7-A528F123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6" y="1463040"/>
            <a:ext cx="2145792" cy="19875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B62C3B-AE03-AAFC-AB65-D1113D3E11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375"/>
          <a:stretch>
            <a:fillRect/>
          </a:stretch>
        </p:blipFill>
        <p:spPr>
          <a:xfrm>
            <a:off x="6336792" y="1441416"/>
            <a:ext cx="2103120" cy="21463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F1D8E41-71EB-0185-57C1-DB7E0ED26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236" y="4135327"/>
            <a:ext cx="2066104" cy="20368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8E79A6-3CA8-7143-6A49-417886207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" y="4135327"/>
            <a:ext cx="19812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EF0A9-1A0D-C78E-8085-AC32BA06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611FE7B2-BDAC-E47B-A4AB-96FFD66B7DF6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175260"/>
            <a:ext cx="11091672" cy="777240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EC734F-353C-CA23-F1C5-BBA96D590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708" y="938504"/>
            <a:ext cx="4042004" cy="4175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535062-9FEF-EEE8-3477-735D25584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34" y="1085850"/>
            <a:ext cx="5960469" cy="39090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B05C032-93BE-3246-D12C-DA575C7BC90D}"/>
              </a:ext>
            </a:extLst>
          </p:cNvPr>
          <p:cNvSpPr txBox="1"/>
          <p:nvPr/>
        </p:nvSpPr>
        <p:spPr>
          <a:xfrm>
            <a:off x="685409" y="5269468"/>
            <a:ext cx="49991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Identifies states with high EV registrations but low operational fast-charger availability. It highlights potential mismatches between EV demand and charging infrastructure.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ADE253-956B-F40D-D517-72E9CADFC03C}"/>
              </a:ext>
            </a:extLst>
          </p:cNvPr>
          <p:cNvSpPr txBox="1"/>
          <p:nvPr/>
        </p:nvSpPr>
        <p:spPr>
          <a:xfrm>
            <a:off x="7053708" y="5318952"/>
            <a:ext cx="4851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Shows the distribution of EV charging infrastructure gaps across Indian states. Higher scores indicate larger gaps and help identify areas that may need more charging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78968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7DF08-4224-4C21-83C8-7EAB9612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ED614D84-B7B3-2898-4AC6-208875137ABD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175260"/>
            <a:ext cx="11091672" cy="777240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AC4075-254F-E7F2-63B5-407305C8CE62}"/>
              </a:ext>
            </a:extLst>
          </p:cNvPr>
          <p:cNvSpPr txBox="1"/>
          <p:nvPr/>
        </p:nvSpPr>
        <p:spPr>
          <a:xfrm>
            <a:off x="685408" y="5336904"/>
            <a:ext cx="49991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The bar chart compares highway coverage within 50 km of a fast charger, with NH-544 leading at 100% and NH-52 lowest at 50%, highlighting priority areas for infrastructure expansion.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4636DD-F4E5-0290-A1AB-7AEB4705D190}"/>
              </a:ext>
            </a:extLst>
          </p:cNvPr>
          <p:cNvSpPr txBox="1"/>
          <p:nvPr/>
        </p:nvSpPr>
        <p:spPr>
          <a:xfrm>
            <a:off x="6969733" y="5337008"/>
            <a:ext cx="4851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The map highlights fast-charging coverage gaps across six major national highways in India, showing covered routes, uncovered segments, and operational fast chargers.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D452E7-30A3-8AE6-85E4-BDAB55BE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266"/>
          <a:stretch>
            <a:fillRect/>
          </a:stretch>
        </p:blipFill>
        <p:spPr>
          <a:xfrm>
            <a:off x="340830" y="1264972"/>
            <a:ext cx="5688266" cy="37594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5D482C-FC8B-2863-DC1A-7FDD962EF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993" y="1098719"/>
            <a:ext cx="4621520" cy="38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Insights and Recommendations</a:t>
            </a:r>
            <a:endParaRPr lang="en-US" sz="3200" dirty="0"/>
          </a:p>
        </p:txBody>
      </p:sp>
      <p:sp>
        <p:nvSpPr>
          <p:cNvPr id="5" name="finding-0"/>
          <p:cNvSpPr/>
          <p:nvPr/>
        </p:nvSpPr>
        <p:spPr>
          <a:xfrm>
            <a:off x="5897880" y="1325880"/>
            <a:ext cx="2816352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080760" y="14356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427 km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longest uncovered stretch (NH-44)</a:t>
            </a:r>
            <a:endParaRPr lang="en-US" sz="1400" dirty="0"/>
          </a:p>
        </p:txBody>
      </p:sp>
      <p:sp>
        <p:nvSpPr>
          <p:cNvPr id="8" name="finding-1"/>
          <p:cNvSpPr/>
          <p:nvPr/>
        </p:nvSpPr>
        <p:spPr>
          <a:xfrm>
            <a:off x="8823960" y="1325880"/>
            <a:ext cx="2816352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9006840" y="14356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243 vs 376 km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NH-66: nearby fast chargers vs uncovered stretch</a:t>
            </a:r>
            <a:endParaRPr lang="en-US" sz="1400" dirty="0"/>
          </a:p>
        </p:txBody>
      </p:sp>
      <p:sp>
        <p:nvSpPr>
          <p:cNvPr id="11" name="finding-2"/>
          <p:cNvSpPr/>
          <p:nvPr/>
        </p:nvSpPr>
        <p:spPr>
          <a:xfrm>
            <a:off x="5897880" y="2926080"/>
            <a:ext cx="2816352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080760" y="30358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~891 km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Maharashtra: uncovered selected-highway length</a:t>
            </a:r>
            <a:endParaRPr lang="en-US" sz="1400" dirty="0"/>
          </a:p>
        </p:txBody>
      </p:sp>
      <p:sp>
        <p:nvSpPr>
          <p:cNvPr id="14" name="finding-3"/>
          <p:cNvSpPr/>
          <p:nvPr/>
        </p:nvSpPr>
        <p:spPr>
          <a:xfrm>
            <a:off x="8823960" y="2926080"/>
            <a:ext cx="2816352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9006840" y="30358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~796 km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Madhya Pradesh: second highest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18" name="rec-0"/>
          <p:cNvSpPr/>
          <p:nvPr/>
        </p:nvSpPr>
        <p:spPr>
          <a:xfrm>
            <a:off x="548640" y="5166360"/>
            <a:ext cx="36118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icon-bg-FaRoute"/>
          <p:cNvSpPr/>
          <p:nvPr/>
        </p:nvSpPr>
        <p:spPr>
          <a:xfrm>
            <a:off x="731520" y="5394960"/>
            <a:ext cx="594360" cy="5943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-FaRoute" descr="FaRou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554949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508760" y="5166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Prioritise long uncovered stretches</a:t>
            </a:r>
            <a:endParaRPr lang="en-US" sz="1400" dirty="0"/>
          </a:p>
        </p:txBody>
      </p:sp>
      <p:sp>
        <p:nvSpPr>
          <p:cNvPr id="22" name="rec-1"/>
          <p:cNvSpPr/>
          <p:nvPr/>
        </p:nvSpPr>
        <p:spPr>
          <a:xfrm>
            <a:off x="4297680" y="5166360"/>
            <a:ext cx="36118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icon-bg-FaCheckCircle"/>
          <p:cNvSpPr/>
          <p:nvPr/>
        </p:nvSpPr>
        <p:spPr>
          <a:xfrm>
            <a:off x="4480560" y="5394960"/>
            <a:ext cx="594360" cy="5943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con-FaCheckCircle" descr="FaCheckCir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094" y="554949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257800" y="5166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Validate charger information</a:t>
            </a:r>
            <a:endParaRPr lang="en-US" sz="1400" dirty="0"/>
          </a:p>
        </p:txBody>
      </p:sp>
      <p:sp>
        <p:nvSpPr>
          <p:cNvPr id="26" name="rec-2"/>
          <p:cNvSpPr/>
          <p:nvPr/>
        </p:nvSpPr>
        <p:spPr>
          <a:xfrm>
            <a:off x="8046720" y="5166360"/>
            <a:ext cx="36118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icon-bg-FaBullseye"/>
          <p:cNvSpPr/>
          <p:nvPr/>
        </p:nvSpPr>
        <p:spPr>
          <a:xfrm>
            <a:off x="8229600" y="5394960"/>
            <a:ext cx="594360" cy="5943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con-FaBullseye" descr="FaBulls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134" y="554949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06840" y="5166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 for corridor coverage, not charger counts alone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75D9A-B2BD-F038-CA83-2C75E13CBF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8266"/>
          <a:stretch>
            <a:fillRect/>
          </a:stretch>
        </p:blipFill>
        <p:spPr>
          <a:xfrm>
            <a:off x="415475" y="1197407"/>
            <a:ext cx="5042933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achievements-card"/>
          <p:cNvSpPr/>
          <p:nvPr/>
        </p:nvSpPr>
        <p:spPr>
          <a:xfrm>
            <a:off x="548640" y="1371600"/>
            <a:ext cx="5486400" cy="3611880"/>
          </a:xfrm>
          <a:prstGeom prst="roundRect">
            <a:avLst>
              <a:gd name="adj" fmla="val 25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-bg-FaCheckCircle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-FaCheckCircle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Achievements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Combined EV registrations, chargers, highways and boundaries in 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Cleaned 1,979 charger records to 1,822 operational, 1,421 fast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Measured coverage on six highways: ~60% of the mapped network has no fast charger within 50 km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Geographic distribution matters as much as charger counts</a:t>
            </a:r>
            <a:endParaRPr lang="en-US" sz="1400" dirty="0"/>
          </a:p>
        </p:txBody>
      </p:sp>
      <p:sp>
        <p:nvSpPr>
          <p:cNvPr id="8" name="future-card"/>
          <p:cNvSpPr/>
          <p:nvPr/>
        </p:nvSpPr>
        <p:spPr>
          <a:xfrm>
            <a:off x="6217920" y="1371600"/>
            <a:ext cx="5422392" cy="3611880"/>
          </a:xfrm>
          <a:prstGeom prst="roundRect">
            <a:avLst>
              <a:gd name="adj" fmla="val 25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icon-bg-FaRoute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-FaRoute" descr="FaRou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16971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28600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Road-network driving distances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Traffic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Additional highways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Updated charger information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Interactive mapping</a:t>
            </a:r>
            <a:endParaRPr lang="en-US" sz="1400" dirty="0"/>
          </a:p>
        </p:txBody>
      </p:sp>
      <p:sp>
        <p:nvSpPr>
          <p:cNvPr id="13" name="limits-card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9091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1371600" y="5166360"/>
            <a:ext cx="96769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dirty="0"/>
              <a:t>From counting chargers to understanding charging accessibility — data analysis can help make EV highway infrastructure planning more evidence-based.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B6DA-E4BB-E482-1C79-682E2F1F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53E8E2B-0DE2-D050-EEA3-A5EC2ABA8F0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2966020" y="1816451"/>
            <a:ext cx="5473787" cy="777240"/>
          </a:xfrm>
        </p:spPr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564858-6E37-A8E6-8BB9-8907FEB42E7F}"/>
              </a:ext>
            </a:extLst>
          </p:cNvPr>
          <p:cNvSpPr txBox="1"/>
          <p:nvPr/>
        </p:nvSpPr>
        <p:spPr>
          <a:xfrm>
            <a:off x="4267200" y="295983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+mj-lt"/>
              </a:rPr>
              <a:t>Any Questions?</a:t>
            </a:r>
            <a:endParaRPr lang="en-IN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392087"/>
      </p:ext>
    </p:extLst>
  </p:cSld>
  <p:clrMapOvr>
    <a:masterClrMapping/>
  </p:clrMapOvr>
</p:sld>
</file>

<file path=ppt/theme/theme1.xml><?xml version="1.0" encoding="utf-8"?>
<a:theme xmlns:a="http://schemas.openxmlformats.org/drawingml/2006/main" name="EV Navy Green">
  <a:themeElements>
    <a:clrScheme name="EV Navy Green">
      <a:dk1>
        <a:srgbClr val="0B1F3A"/>
      </a:dk1>
      <a:lt1>
        <a:srgbClr val="FFFFFF"/>
      </a:lt1>
      <a:dk2>
        <a:srgbClr val="143A6B"/>
      </a:dk2>
      <a:lt2>
        <a:srgbClr val="EEF3F8"/>
      </a:lt2>
      <a:accent1>
        <a:srgbClr val="00E676"/>
      </a:accent1>
      <a:accent2>
        <a:srgbClr val="2F80ED"/>
      </a:accent2>
      <a:accent3>
        <a:srgbClr val="F59E0B"/>
      </a:accent3>
      <a:accent4>
        <a:srgbClr val="E5484D"/>
      </a:accent4>
      <a:accent5>
        <a:srgbClr val="5B6B80"/>
      </a:accent5>
      <a:accent6>
        <a:srgbClr val="A9B8CC"/>
      </a:accent6>
      <a:hlink>
        <a:srgbClr val="2F80ED"/>
      </a:hlink>
      <a:folHlink>
        <a:srgbClr val="5B6B80"/>
      </a:folHlink>
    </a:clrScheme>
    <a:fontScheme name="EV Navy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1654</Words>
  <Application>Microsoft Office PowerPoint</Application>
  <PresentationFormat>Widescreen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Wingdings</vt:lpstr>
      <vt:lpstr>EV Navy Green</vt:lpstr>
      <vt:lpstr>PowerPoint Presentation</vt:lpstr>
      <vt:lpstr>Industry Overview</vt:lpstr>
      <vt:lpstr>Problem Statement</vt:lpstr>
      <vt:lpstr>Project Objectives</vt:lpstr>
      <vt:lpstr>Proposed Solution and Analysis Questions</vt:lpstr>
      <vt:lpstr>Dataset Information</vt:lpstr>
      <vt:lpstr>Data Collection and Understanding</vt:lpstr>
      <vt:lpstr>Data Cleaning and Transformation</vt:lpstr>
      <vt:lpstr>Exploratory Data Analysis</vt:lpstr>
      <vt:lpstr>Data Visualization</vt:lpstr>
      <vt:lpstr>Data Visualization</vt:lpstr>
      <vt:lpstr>Data Visualization</vt:lpstr>
      <vt:lpstr>Key Insights and Recommendations</vt:lpstr>
      <vt:lpstr>Conclusion and Future Scope</vt:lpstr>
      <vt:lpstr>Thank you </vt:lpstr>
    </vt:vector>
  </TitlesOfParts>
  <Company>Anudip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Highway Corridor Reliability Gap Analysis</dc:title>
  <dc:subject>PptxGenJS Presentation</dc:subject>
  <dc:creator>Inbavathi Murugan</dc:creator>
  <cp:lastModifiedBy>S0615191</cp:lastModifiedBy>
  <cp:revision>1</cp:revision>
  <dcterms:created xsi:type="dcterms:W3CDTF">2026-10-11T11:49:11Z</dcterms:created>
  <dcterms:modified xsi:type="dcterms:W3CDTF">2026-10-13T00:58:22Z</dcterms:modified>
</cp:coreProperties>
</file>